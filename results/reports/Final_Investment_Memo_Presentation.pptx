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question simply: do consumer and investor sentiment help timing equity returns? Emphasize that this is a project story that starts with clean data, moves through exploratory evidence, and ends with a more nuanced investment recommendation. Do not lead with econometric jargon; lead with the decision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non-technical headline. State that the project did not uncover a simple buy-sell rule for the whole market, but it did uncover a more economically interesting regime story. Mention that AAII positioning is closer to market moves than broad consumer confidence, and that the later firm-panel model strengthens the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pipeline. Explain that the M1 result matters because the later slides rely on a merged panel with no missing cells. Emphasize the month-end AAII aggregation choice as an economic decision, not just a coding choice. If someone asks why no outlier trimming, say the crisis episodes are exactly what investors need the model to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sound like the bridge between the clean data and the regression results. Point out that the EDA did not support a simple, linear, same-month timing rule. The useful takeaway is that AAII positioning is more immediate and that lagged sentiment relationships exist, but only weakly. That is why the later models used lags and regime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carefully: do not hide the fact that the aggregate M3 model was weak. Explain that the weak result is economically meaningful because it tells us sentiment is not a simple broad-market alpha signal. That shifts the investment use case from outright timing to regime and exposure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event study to connect the macro story to investor behavior. The point is not just that crashes were negative; it is that the abnormal-return pattern shows how sentiment and risk appetite matter most when the market has to reprice uncertainty quickly. Contrast the slower, deeper 2008 drawdown with the faster COVID shock and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the most policy-relevant or portfolio-relevant result. The panel model is not about the market average; it is about differential exposure. That makes the coefficient economically intuitive: smaller firms are more vulnerable to financing frictions, risk aversion, and shifts in investor willingness to hold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show discipline. The diagnostics are important because they let you say the evidence is not being driven by obvious model pathologies. But also be honest that diagnostics are not the same as strong explanatory power. The result is robust enough to trust, yet not strong enough to overstate.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recommendation concrete. The audience should leave with a decision rule, not just a statistical conclusion. Stress that the recommendation is conditional: sentiment matters most when regimes are changing, especially for small firms and financing-sensitive names. The point is disciplined risk tilting, not market timing bravado.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practical takeaway: sentiment helps the committee manage risk, but it does not give a stable market-timing edge on its own. End with confidence, not hype. If there is time, invite questions about the M3 failure, because that is where the most honest methodological discussion will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747"/>
          </a:solidFill>
          <a:ln w="12700">
            <a:solidFill>
              <a:srgbClr val="0F2747">
                <a:alpha val="0"/>
              </a:srgbClr>
            </a:solidFill>
            <a:prstDash val="solid"/>
          </a:ln>
        </p:spPr>
      </p:sp>
      <p:sp>
        <p:nvSpPr>
          <p:cNvPr id="3" name="Shape 1"/>
          <p:cNvSpPr/>
          <p:nvPr/>
        </p:nvSpPr>
        <p:spPr>
          <a:xfrm>
            <a:off x="0" y="0"/>
            <a:ext cx="201168" cy="5143500"/>
          </a:xfrm>
          <a:prstGeom prst="rect">
            <a:avLst/>
          </a:prstGeom>
          <a:solidFill>
            <a:srgbClr val="0C9DA5"/>
          </a:solidFill>
          <a:ln w="12700">
            <a:solidFill>
              <a:srgbClr val="0C9DA5">
                <a:alpha val="0"/>
              </a:srgbClr>
            </a:solidFill>
            <a:prstDash val="solid"/>
          </a:ln>
        </p:spPr>
      </p:sp>
      <p:sp>
        <p:nvSpPr>
          <p:cNvPr id="4" name="Shape 2"/>
          <p:cNvSpPr/>
          <p:nvPr/>
        </p:nvSpPr>
        <p:spPr>
          <a:xfrm>
            <a:off x="7223760" y="502920"/>
            <a:ext cx="1234440" cy="1234440"/>
          </a:xfrm>
          <a:prstGeom prst="ellipse">
            <a:avLst/>
          </a:prstGeom>
          <a:solidFill>
            <a:srgbClr val="0C9DA5">
              <a:alpha val="30000"/>
            </a:srgbClr>
          </a:solidFill>
          <a:ln w="12700">
            <a:solidFill>
              <a:srgbClr val="0C9DA5">
                <a:alpha val="0"/>
              </a:srgbClr>
            </a:solidFill>
            <a:prstDash val="solid"/>
          </a:ln>
        </p:spPr>
      </p:sp>
      <p:sp>
        <p:nvSpPr>
          <p:cNvPr id="5" name="Shape 3"/>
          <p:cNvSpPr/>
          <p:nvPr/>
        </p:nvSpPr>
        <p:spPr>
          <a:xfrm>
            <a:off x="7726680" y="1234440"/>
            <a:ext cx="868680" cy="868680"/>
          </a:xfrm>
          <a:prstGeom prst="ellipse">
            <a:avLst/>
          </a:prstGeom>
          <a:solidFill>
            <a:srgbClr val="BFE9E4">
              <a:alpha val="28000"/>
            </a:srgbClr>
          </a:solidFill>
          <a:ln w="12700">
            <a:solidFill>
              <a:srgbClr val="BFE9E4">
                <a:alpha val="0"/>
              </a:srgbClr>
            </a:solidFill>
            <a:prstDash val="solid"/>
          </a:ln>
        </p:spPr>
      </p:sp>
      <p:sp>
        <p:nvSpPr>
          <p:cNvPr id="6" name="Text 4"/>
          <p:cNvSpPr/>
          <p:nvPr/>
        </p:nvSpPr>
        <p:spPr>
          <a:xfrm>
            <a:off x="685800" y="1005840"/>
            <a:ext cx="5669280" cy="11430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Consumer and Investor Sentiment</a:t>
            </a:r>
            <a:endParaRPr lang="en-US" sz="2600" dirty="0"/>
          </a:p>
          <a:p>
            <a:pPr indent="0" marL="0">
              <a:buNone/>
            </a:pPr>
            <a:r>
              <a:rPr lang="en-US" sz="2600" b="1" dirty="0">
                <a:solidFill>
                  <a:srgbClr val="FFFFFF"/>
                </a:solidFill>
                <a:latin typeface="Georgia" pitchFamily="34" charset="0"/>
                <a:ea typeface="Georgia" pitchFamily="34" charset="-122"/>
                <a:cs typeface="Georgia" pitchFamily="34" charset="-120"/>
              </a:rPr>
              <a:t>as a Timing Signal for U.S. Equity Returns</a:t>
            </a:r>
            <a:endParaRPr lang="en-US" sz="2600" dirty="0"/>
          </a:p>
        </p:txBody>
      </p:sp>
      <p:sp>
        <p:nvSpPr>
          <p:cNvPr id="7" name="Text 5"/>
          <p:cNvSpPr/>
          <p:nvPr/>
        </p:nvSpPr>
        <p:spPr>
          <a:xfrm>
            <a:off x="713232" y="2331720"/>
            <a:ext cx="4846320" cy="292608"/>
          </a:xfrm>
          <a:prstGeom prst="rect">
            <a:avLst/>
          </a:prstGeom>
          <a:noFill/>
          <a:ln/>
        </p:spPr>
        <p:txBody>
          <a:bodyPr wrap="square" lIns="0" tIns="0" rIns="0" bIns="0" rtlCol="0" anchor="ctr"/>
          <a:lstStyle/>
          <a:p>
            <a:pPr indent="0" marL="0">
              <a:buNone/>
            </a:pPr>
            <a:r>
              <a:rPr lang="en-US" sz="1400" dirty="0">
                <a:solidFill>
                  <a:srgbClr val="D7E3F0"/>
                </a:solidFill>
                <a:latin typeface="Calibri" pitchFamily="34" charset="0"/>
                <a:ea typeface="Calibri" pitchFamily="34" charset="-122"/>
                <a:cs typeface="Calibri" pitchFamily="34" charset="-120"/>
              </a:rPr>
              <a:t>Final investment memo presentation | M1, M2, M3, and M3v2</a:t>
            </a:r>
            <a:endParaRPr lang="en-US" sz="1400" dirty="0"/>
          </a:p>
        </p:txBody>
      </p:sp>
      <p:sp>
        <p:nvSpPr>
          <p:cNvPr id="8" name="Text 6"/>
          <p:cNvSpPr/>
          <p:nvPr/>
        </p:nvSpPr>
        <p:spPr>
          <a:xfrm>
            <a:off x="713232" y="2697480"/>
            <a:ext cx="5120640" cy="256032"/>
          </a:xfrm>
          <a:prstGeom prst="rect">
            <a:avLst/>
          </a:prstGeom>
          <a:noFill/>
          <a:ln/>
        </p:spPr>
        <p:txBody>
          <a:bodyPr wrap="square" lIns="0" tIns="0" rIns="0" bIns="0" rtlCol="0" anchor="ctr"/>
          <a:lstStyle/>
          <a:p>
            <a:pPr indent="0" marL="0">
              <a:buNone/>
            </a:pPr>
            <a:r>
              <a:rPr lang="en-US" sz="1200" dirty="0">
                <a:solidFill>
                  <a:srgbClr val="D7E3F0"/>
                </a:solidFill>
                <a:latin typeface="Calibri" pitchFamily="34" charset="0"/>
                <a:ea typeface="Calibri" pitchFamily="34" charset="-122"/>
                <a:cs typeface="Calibri" pitchFamily="34" charset="-120"/>
              </a:rPr>
              <a:t>2nd Row Team: Steffi Brewer, Nicholas Langkamp, Katrina Baiza</a:t>
            </a:r>
            <a:endParaRPr lang="en-US" sz="1200" dirty="0"/>
          </a:p>
        </p:txBody>
      </p:sp>
      <p:sp>
        <p:nvSpPr>
          <p:cNvPr id="9" name="Shape 7"/>
          <p:cNvSpPr/>
          <p:nvPr/>
        </p:nvSpPr>
        <p:spPr>
          <a:xfrm>
            <a:off x="6355080" y="1828800"/>
            <a:ext cx="1005840" cy="822960"/>
          </a:xfrm>
          <a:prstGeom prst="roundRect">
            <a:avLst>
              <a:gd name="adj" fmla="val 8889"/>
            </a:avLst>
          </a:prstGeom>
          <a:solidFill>
            <a:srgbClr val="E6F7F6"/>
          </a:solidFill>
          <a:ln w="12700">
            <a:solidFill>
              <a:srgbClr val="E6F7F6">
                <a:alpha val="0"/>
              </a:srgbClr>
            </a:solidFill>
            <a:prstDash val="solid"/>
          </a:ln>
        </p:spPr>
      </p:sp>
      <p:sp>
        <p:nvSpPr>
          <p:cNvPr id="10" name="Text 8"/>
          <p:cNvSpPr/>
          <p:nvPr/>
        </p:nvSpPr>
        <p:spPr>
          <a:xfrm>
            <a:off x="6428232" y="1938528"/>
            <a:ext cx="85953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252</a:t>
            </a:r>
            <a:endParaRPr lang="en-US" sz="2400" dirty="0"/>
          </a:p>
        </p:txBody>
      </p:sp>
      <p:sp>
        <p:nvSpPr>
          <p:cNvPr id="11" name="Text 9"/>
          <p:cNvSpPr/>
          <p:nvPr/>
        </p:nvSpPr>
        <p:spPr>
          <a:xfrm>
            <a:off x="6446520" y="2304288"/>
            <a:ext cx="822960" cy="310896"/>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monthly obs.</a:t>
            </a:r>
            <a:endParaRPr lang="en-US" sz="1100" dirty="0"/>
          </a:p>
        </p:txBody>
      </p:sp>
      <p:sp>
        <p:nvSpPr>
          <p:cNvPr id="12" name="Shape 10"/>
          <p:cNvSpPr/>
          <p:nvPr/>
        </p:nvSpPr>
        <p:spPr>
          <a:xfrm>
            <a:off x="7452360" y="1828800"/>
            <a:ext cx="1005840" cy="822960"/>
          </a:xfrm>
          <a:prstGeom prst="roundRect">
            <a:avLst>
              <a:gd name="adj" fmla="val 8889"/>
            </a:avLst>
          </a:prstGeom>
          <a:solidFill>
            <a:srgbClr val="EAF2F8"/>
          </a:solidFill>
          <a:ln w="12700">
            <a:solidFill>
              <a:srgbClr val="EAF2F8">
                <a:alpha val="0"/>
              </a:srgbClr>
            </a:solidFill>
            <a:prstDash val="solid"/>
          </a:ln>
        </p:spPr>
      </p:sp>
      <p:sp>
        <p:nvSpPr>
          <p:cNvPr id="13" name="Text 11"/>
          <p:cNvSpPr/>
          <p:nvPr/>
        </p:nvSpPr>
        <p:spPr>
          <a:xfrm>
            <a:off x="7525512" y="1938528"/>
            <a:ext cx="85953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0</a:t>
            </a:r>
            <a:endParaRPr lang="en-US" sz="2400" dirty="0"/>
          </a:p>
        </p:txBody>
      </p:sp>
      <p:sp>
        <p:nvSpPr>
          <p:cNvPr id="14" name="Text 12"/>
          <p:cNvSpPr/>
          <p:nvPr/>
        </p:nvSpPr>
        <p:spPr>
          <a:xfrm>
            <a:off x="7543800" y="2304288"/>
            <a:ext cx="822960" cy="310896"/>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missing cells</a:t>
            </a:r>
            <a:endParaRPr lang="en-US" sz="1100" dirty="0"/>
          </a:p>
        </p:txBody>
      </p:sp>
      <p:sp>
        <p:nvSpPr>
          <p:cNvPr id="15" name="Shape 13"/>
          <p:cNvSpPr/>
          <p:nvPr/>
        </p:nvSpPr>
        <p:spPr>
          <a:xfrm>
            <a:off x="6903720" y="2761488"/>
            <a:ext cx="1005840" cy="822960"/>
          </a:xfrm>
          <a:prstGeom prst="roundRect">
            <a:avLst>
              <a:gd name="adj" fmla="val 8889"/>
            </a:avLst>
          </a:prstGeom>
          <a:solidFill>
            <a:srgbClr val="FFF3D6"/>
          </a:solidFill>
          <a:ln w="12700">
            <a:solidFill>
              <a:srgbClr val="FFF3D6">
                <a:alpha val="0"/>
              </a:srgbClr>
            </a:solidFill>
            <a:prstDash val="solid"/>
          </a:ln>
        </p:spPr>
      </p:sp>
      <p:sp>
        <p:nvSpPr>
          <p:cNvPr id="16" name="Text 14"/>
          <p:cNvSpPr/>
          <p:nvPr/>
        </p:nvSpPr>
        <p:spPr>
          <a:xfrm>
            <a:off x="6976872" y="2871216"/>
            <a:ext cx="85953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52k</a:t>
            </a:r>
            <a:endParaRPr lang="en-US" sz="2400" dirty="0"/>
          </a:p>
        </p:txBody>
      </p:sp>
      <p:sp>
        <p:nvSpPr>
          <p:cNvPr id="17" name="Text 15"/>
          <p:cNvSpPr/>
          <p:nvPr/>
        </p:nvSpPr>
        <p:spPr>
          <a:xfrm>
            <a:off x="6995160" y="3236976"/>
            <a:ext cx="822960" cy="310896"/>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firm-years</a:t>
            </a:r>
            <a:endParaRPr lang="en-US" sz="1100" dirty="0"/>
          </a:p>
        </p:txBody>
      </p:sp>
      <p:sp>
        <p:nvSpPr>
          <p:cNvPr id="18" name="Text 16"/>
          <p:cNvSpPr/>
          <p:nvPr/>
        </p:nvSpPr>
        <p:spPr>
          <a:xfrm>
            <a:off x="713232" y="4160520"/>
            <a:ext cx="6492240" cy="320040"/>
          </a:xfrm>
          <a:prstGeom prst="rect">
            <a:avLst/>
          </a:prstGeom>
          <a:noFill/>
          <a:ln/>
        </p:spPr>
        <p:txBody>
          <a:bodyPr wrap="square" lIns="0" tIns="0" rIns="0" bIns="0" rtlCol="0" anchor="ctr"/>
          <a:lstStyle/>
          <a:p>
            <a:pPr indent="0" marL="0">
              <a:buNone/>
            </a:pPr>
            <a:r>
              <a:rPr lang="en-US" sz="1200" i="1" dirty="0">
                <a:solidFill>
                  <a:srgbClr val="EAF2F8"/>
                </a:solidFill>
                <a:latin typeface="Calibri" pitchFamily="34" charset="0"/>
                <a:ea typeface="Calibri" pitchFamily="34" charset="-122"/>
                <a:cs typeface="Calibri" pitchFamily="34" charset="-120"/>
              </a:rPr>
              <a:t>The memo treats sentiment as a regime filter, not a standalone timing rule.</a:t>
            </a:r>
            <a:endParaRPr lang="en-US" sz="1200" dirty="0"/>
          </a:p>
        </p:txBody>
      </p:sp>
      <p:sp>
        <p:nvSpPr>
          <p:cNvPr id="19" name="Text 17"/>
          <p:cNvSpPr/>
          <p:nvPr/>
        </p:nvSpPr>
        <p:spPr>
          <a:xfrm>
            <a:off x="7315200" y="4526280"/>
            <a:ext cx="1371600" cy="182880"/>
          </a:xfrm>
          <a:prstGeom prst="rect">
            <a:avLst/>
          </a:prstGeom>
          <a:noFill/>
          <a:ln/>
        </p:spPr>
        <p:txBody>
          <a:bodyPr wrap="square" lIns="0" tIns="0" rIns="0" bIns="0" rtlCol="0" anchor="ctr"/>
          <a:lstStyle/>
          <a:p>
            <a:pPr algn="r" indent="0" marL="0">
              <a:buNone/>
            </a:pPr>
            <a:r>
              <a:rPr lang="en-US" sz="1000" b="1" dirty="0">
                <a:solidFill>
                  <a:srgbClr val="D7E3F0"/>
                </a:solidFill>
                <a:latin typeface="Calibri" pitchFamily="34" charset="0"/>
                <a:ea typeface="Calibri" pitchFamily="34" charset="-122"/>
                <a:cs typeface="Calibri" pitchFamily="34" charset="-120"/>
              </a:rPr>
              <a:t>M1 → M2 → M3 → M3v2</a:t>
            </a:r>
            <a:endParaRPr lang="en-US" sz="1000" dirty="0"/>
          </a:p>
        </p:txBody>
      </p:sp>
      <p:sp>
        <p:nvSpPr>
          <p:cNvPr id="21" name="Text 18"/>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DDE7F2"/>
                </a:solidFill>
                <a:latin typeface="Calibri" pitchFamily="34" charset="0"/>
                <a:ea typeface="Calibri" pitchFamily="34" charset="-122"/>
                <a:cs typeface="Calibri" pitchFamily="34" charset="-120"/>
              </a:rPr>
              <a:t>2nd Row Team | 1/10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What we found in one sentence</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sp>
        <p:nvSpPr>
          <p:cNvPr id="5" name="Shape 3"/>
          <p:cNvSpPr/>
          <p:nvPr/>
        </p:nvSpPr>
        <p:spPr>
          <a:xfrm>
            <a:off x="502920" y="1737360"/>
            <a:ext cx="2697480" cy="2103120"/>
          </a:xfrm>
          <a:prstGeom prst="roundRect">
            <a:avLst>
              <a:gd name="adj" fmla="val 3478"/>
            </a:avLst>
          </a:prstGeom>
          <a:solidFill>
            <a:srgbClr val="FFFFFF"/>
          </a:solidFill>
          <a:ln w="12700">
            <a:solidFill>
              <a:srgbClr val="D7DDE4">
                <a:alpha val="0"/>
              </a:srgbClr>
            </a:solidFill>
            <a:prstDash val="solid"/>
          </a:ln>
          <a:effectLst>
            <a:outerShdw sx="100000" sy="100000" kx="0" ky="0" algn="bl" rotWithShape="0" blurRad="25400" dist="12700" dir="2700000">
              <a:srgbClr val="000000">
                <a:alpha val="12000"/>
              </a:srgbClr>
            </a:outerShdw>
          </a:effectLst>
        </p:spPr>
      </p:sp>
      <p:sp>
        <p:nvSpPr>
          <p:cNvPr id="6" name="Text 4"/>
          <p:cNvSpPr/>
          <p:nvPr/>
        </p:nvSpPr>
        <p:spPr>
          <a:xfrm>
            <a:off x="667512" y="1865376"/>
            <a:ext cx="23682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Broad market</a:t>
            </a:r>
            <a:endParaRPr lang="en-US" sz="1500" dirty="0"/>
          </a:p>
        </p:txBody>
      </p:sp>
      <p:sp>
        <p:nvSpPr>
          <p:cNvPr id="7" name="Text 5"/>
          <p:cNvSpPr/>
          <p:nvPr/>
        </p:nvSpPr>
        <p:spPr>
          <a:xfrm>
            <a:off x="667512" y="2157984"/>
            <a:ext cx="2368296" cy="157276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Sentiment is useful, but it is not a strong standalone timing rule for the overall market. The aggregate M3 coefficients were small and weak.</a:t>
            </a:r>
            <a:endParaRPr lang="en-US" sz="1200" dirty="0"/>
          </a:p>
        </p:txBody>
      </p:sp>
      <p:sp>
        <p:nvSpPr>
          <p:cNvPr id="8" name="Shape 6"/>
          <p:cNvSpPr/>
          <p:nvPr/>
        </p:nvSpPr>
        <p:spPr>
          <a:xfrm>
            <a:off x="3200400" y="1737360"/>
            <a:ext cx="2697480" cy="2103120"/>
          </a:xfrm>
          <a:prstGeom prst="roundRect">
            <a:avLst>
              <a:gd name="adj" fmla="val 3478"/>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9" name="Text 7"/>
          <p:cNvSpPr/>
          <p:nvPr/>
        </p:nvSpPr>
        <p:spPr>
          <a:xfrm>
            <a:off x="3364992" y="1865376"/>
            <a:ext cx="23682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Where the signal shows up</a:t>
            </a:r>
            <a:endParaRPr lang="en-US" sz="1500" dirty="0"/>
          </a:p>
        </p:txBody>
      </p:sp>
      <p:sp>
        <p:nvSpPr>
          <p:cNvPr id="10" name="Text 8"/>
          <p:cNvSpPr/>
          <p:nvPr/>
        </p:nvSpPr>
        <p:spPr>
          <a:xfrm>
            <a:off x="3364992" y="2157984"/>
            <a:ext cx="2368296" cy="157276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stronger effect appears in crisis transitions and in smaller, more sentiment-sensitive firms. That is where funding conditions and risk appetite matter most.</a:t>
            </a:r>
            <a:endParaRPr lang="en-US" sz="1200" dirty="0"/>
          </a:p>
        </p:txBody>
      </p:sp>
      <p:sp>
        <p:nvSpPr>
          <p:cNvPr id="11" name="Shape 9"/>
          <p:cNvSpPr/>
          <p:nvPr/>
        </p:nvSpPr>
        <p:spPr>
          <a:xfrm>
            <a:off x="5897880" y="1737360"/>
            <a:ext cx="2697480" cy="2103120"/>
          </a:xfrm>
          <a:prstGeom prst="roundRect">
            <a:avLst>
              <a:gd name="adj" fmla="val 3478"/>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2" name="Text 10"/>
          <p:cNvSpPr/>
          <p:nvPr/>
        </p:nvSpPr>
        <p:spPr>
          <a:xfrm>
            <a:off x="6062472" y="1865376"/>
            <a:ext cx="23682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Decision rule</a:t>
            </a:r>
            <a:endParaRPr lang="en-US" sz="1500" dirty="0"/>
          </a:p>
        </p:txBody>
      </p:sp>
      <p:sp>
        <p:nvSpPr>
          <p:cNvPr id="13" name="Text 11"/>
          <p:cNvSpPr/>
          <p:nvPr/>
        </p:nvSpPr>
        <p:spPr>
          <a:xfrm>
            <a:off x="6062472" y="2157984"/>
            <a:ext cx="2368296" cy="157276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Use sentiment as a regime overlay. Tilt risk exposure within equities, but do not rely on it to predict the next month of the market by itself.</a:t>
            </a:r>
            <a:endParaRPr lang="en-US" sz="1200" dirty="0"/>
          </a:p>
        </p:txBody>
      </p:sp>
      <p:sp>
        <p:nvSpPr>
          <p:cNvPr id="14" name="Shape 12"/>
          <p:cNvSpPr/>
          <p:nvPr/>
        </p:nvSpPr>
        <p:spPr>
          <a:xfrm>
            <a:off x="4023360" y="4251960"/>
            <a:ext cx="1097280" cy="384048"/>
          </a:xfrm>
          <a:prstGeom prst="chevron">
            <a:avLst/>
          </a:prstGeom>
          <a:solidFill>
            <a:srgbClr val="0C9DA5"/>
          </a:solidFill>
          <a:ln w="12700">
            <a:solidFill>
              <a:srgbClr val="0C9DA5">
                <a:alpha val="0"/>
              </a:srgbClr>
            </a:solidFill>
            <a:prstDash val="solid"/>
          </a:ln>
        </p:spPr>
      </p:sp>
      <p:sp>
        <p:nvSpPr>
          <p:cNvPr id="15" name="Text 13"/>
          <p:cNvSpPr/>
          <p:nvPr/>
        </p:nvSpPr>
        <p:spPr>
          <a:xfrm>
            <a:off x="3108960" y="4297680"/>
            <a:ext cx="3017520" cy="182880"/>
          </a:xfrm>
          <a:prstGeom prst="rect">
            <a:avLst/>
          </a:prstGeom>
          <a:noFill/>
          <a:ln/>
        </p:spPr>
        <p:txBody>
          <a:bodyPr wrap="square" lIns="0" tIns="0" rIns="0" bIns="0" rtlCol="0" anchor="ctr"/>
          <a:lstStyle/>
          <a:p>
            <a:pPr algn="ctr" indent="0" marL="0">
              <a:buNone/>
            </a:pPr>
            <a:r>
              <a:rPr lang="en-US" sz="1100" b="1" dirty="0">
                <a:solidFill>
                  <a:srgbClr val="6C7A89"/>
                </a:solidFill>
                <a:latin typeface="Calibri" pitchFamily="34" charset="0"/>
                <a:ea typeface="Calibri" pitchFamily="34" charset="-122"/>
                <a:cs typeface="Calibri" pitchFamily="34" charset="-120"/>
              </a:rPr>
              <a:t>from signal to allocation</a:t>
            </a:r>
            <a:endParaRPr lang="en-US" sz="1100" dirty="0"/>
          </a:p>
        </p:txBody>
      </p:sp>
      <p:sp>
        <p:nvSpPr>
          <p:cNvPr id="17" name="Text 14"/>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2/10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Data and sample construction</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M1: Clean data was the foundation of the analysis</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sp>
        <p:nvSpPr>
          <p:cNvPr id="5" name="Shape 3"/>
          <p:cNvSpPr/>
          <p:nvPr/>
        </p:nvSpPr>
        <p:spPr>
          <a:xfrm>
            <a:off x="530352" y="1700784"/>
            <a:ext cx="2834640" cy="2834640"/>
          </a:xfrm>
          <a:prstGeom prst="roundRect">
            <a:avLst>
              <a:gd name="adj" fmla="val 1613"/>
            </a:avLst>
          </a:prstGeom>
          <a:solidFill>
            <a:srgbClr val="EAF2F8"/>
          </a:solidFill>
          <a:ln w="12700">
            <a:solidFill>
              <a:srgbClr val="D7DDE4"/>
            </a:solidFill>
            <a:prstDash val="solid"/>
          </a:ln>
          <a:effectLst>
            <a:outerShdw sx="100000" sy="100000" kx="0" ky="0" algn="bl" rotWithShape="0" blurRad="12700" dist="12700" dir="2700000">
              <a:srgbClr val="000000">
                <a:alpha val="8000"/>
              </a:srgbClr>
            </a:outerShdw>
          </a:effectLst>
        </p:spPr>
      </p:sp>
      <p:sp>
        <p:nvSpPr>
          <p:cNvPr id="6" name="Text 4"/>
          <p:cNvSpPr/>
          <p:nvPr/>
        </p:nvSpPr>
        <p:spPr>
          <a:xfrm>
            <a:off x="676656" y="1810512"/>
            <a:ext cx="2542032" cy="219456"/>
          </a:xfrm>
          <a:prstGeom prst="rect">
            <a:avLst/>
          </a:prstGeom>
          <a:noFill/>
          <a:ln/>
        </p:spPr>
        <p:txBody>
          <a:bodyPr wrap="square" lIns="0" tIns="0" rIns="0" bIns="0" rtlCol="0" anchor="ctr"/>
          <a:lstStyle/>
          <a:p>
            <a:pPr indent="0" marL="0">
              <a:buNone/>
            </a:pPr>
            <a:r>
              <a:rPr lang="en-US" sz="1400" b="1" dirty="0">
                <a:solidFill>
                  <a:srgbClr val="0F2747"/>
                </a:solidFill>
                <a:latin typeface="Georgia" pitchFamily="34" charset="0"/>
                <a:ea typeface="Georgia" pitchFamily="34" charset="-122"/>
                <a:cs typeface="Georgia" pitchFamily="34" charset="-120"/>
              </a:rPr>
              <a:t>Three source streams</a:t>
            </a:r>
            <a:endParaRPr lang="en-US" sz="1400" dirty="0"/>
          </a:p>
        </p:txBody>
      </p:sp>
      <p:sp>
        <p:nvSpPr>
          <p:cNvPr id="7" name="Text 5"/>
          <p:cNvSpPr/>
          <p:nvPr/>
        </p:nvSpPr>
        <p:spPr>
          <a:xfrm>
            <a:off x="694944" y="2084832"/>
            <a:ext cx="2505456" cy="2359152"/>
          </a:xfrm>
          <a:prstGeom prst="rect">
            <a:avLst/>
          </a:prstGeom>
          <a:noFill/>
          <a:ln/>
        </p:spPr>
        <p:txBody>
          <a:bodyPr wrap="square" lIns="0" tIns="0" rIns="0" bIns="0" rtlCol="0" anchor="ctr"/>
          <a:lstStyle/>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Michigan consumer sentiment from FRED</a:t>
            </a:r>
            <a:endParaRPr lang="en-US" sz="1200" dirty="0"/>
          </a:p>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AAII weekly investor sentiment, manually collected</a:t>
            </a:r>
            <a:endParaRPr lang="en-US" sz="1200" dirty="0"/>
          </a:p>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Kenneth R. French factor data for market controls</a:t>
            </a:r>
            <a:endParaRPr lang="en-US" sz="1200" dirty="0"/>
          </a:p>
        </p:txBody>
      </p:sp>
      <p:pic>
        <p:nvPicPr>
          <p:cNvPr id="8" name="Image 0" descr="/workspaces/qm2023-capstone-2nd-row-team/results/figures/final_panel_overview.png">    </p:cNvPr>
          <p:cNvPicPr>
            <a:picLocks noChangeAspect="1"/>
          </p:cNvPicPr>
          <p:nvPr/>
        </p:nvPicPr>
        <p:blipFill>
          <a:blip r:embed="rId1"/>
          <a:srcRect l="0" r="0" t="0" b="0"/>
          <a:stretch/>
        </p:blipFill>
        <p:spPr>
          <a:xfrm>
            <a:off x="3611880" y="1700784"/>
            <a:ext cx="4983480" cy="2834640"/>
          </a:xfrm>
          <a:prstGeom prst="rect">
            <a:avLst/>
          </a:prstGeom>
        </p:spPr>
      </p:pic>
      <p:sp>
        <p:nvSpPr>
          <p:cNvPr id="9" name="Shape 6"/>
          <p:cNvSpPr/>
          <p:nvPr/>
        </p:nvSpPr>
        <p:spPr>
          <a:xfrm>
            <a:off x="566928" y="4663440"/>
            <a:ext cx="1143000" cy="749808"/>
          </a:xfrm>
          <a:prstGeom prst="roundRect">
            <a:avLst>
              <a:gd name="adj" fmla="val 9756"/>
            </a:avLst>
          </a:prstGeom>
          <a:solidFill>
            <a:srgbClr val="E6F7F6"/>
          </a:solidFill>
          <a:ln w="12700">
            <a:solidFill>
              <a:srgbClr val="E6F7F6">
                <a:alpha val="0"/>
              </a:srgbClr>
            </a:solidFill>
            <a:prstDash val="solid"/>
          </a:ln>
        </p:spPr>
      </p:sp>
      <p:sp>
        <p:nvSpPr>
          <p:cNvPr id="10" name="Text 7"/>
          <p:cNvSpPr/>
          <p:nvPr/>
        </p:nvSpPr>
        <p:spPr>
          <a:xfrm>
            <a:off x="640080" y="4773168"/>
            <a:ext cx="99669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0</a:t>
            </a:r>
            <a:endParaRPr lang="en-US" sz="2400" dirty="0"/>
          </a:p>
        </p:txBody>
      </p:sp>
      <p:sp>
        <p:nvSpPr>
          <p:cNvPr id="11" name="Text 8"/>
          <p:cNvSpPr/>
          <p:nvPr/>
        </p:nvSpPr>
        <p:spPr>
          <a:xfrm>
            <a:off x="658368" y="5138928"/>
            <a:ext cx="960120" cy="237744"/>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missing cells</a:t>
            </a:r>
            <a:endParaRPr lang="en-US" sz="1100" dirty="0"/>
          </a:p>
        </p:txBody>
      </p:sp>
      <p:sp>
        <p:nvSpPr>
          <p:cNvPr id="12" name="Shape 9"/>
          <p:cNvSpPr/>
          <p:nvPr/>
        </p:nvSpPr>
        <p:spPr>
          <a:xfrm>
            <a:off x="1783080" y="4663440"/>
            <a:ext cx="1417320" cy="749808"/>
          </a:xfrm>
          <a:prstGeom prst="roundRect">
            <a:avLst>
              <a:gd name="adj" fmla="val 9756"/>
            </a:avLst>
          </a:prstGeom>
          <a:solidFill>
            <a:srgbClr val="FFF3D6"/>
          </a:solidFill>
          <a:ln w="12700">
            <a:solidFill>
              <a:srgbClr val="FFF3D6">
                <a:alpha val="0"/>
              </a:srgbClr>
            </a:solidFill>
            <a:prstDash val="solid"/>
          </a:ln>
        </p:spPr>
      </p:sp>
      <p:sp>
        <p:nvSpPr>
          <p:cNvPr id="13" name="Text 10"/>
          <p:cNvSpPr/>
          <p:nvPr/>
        </p:nvSpPr>
        <p:spPr>
          <a:xfrm>
            <a:off x="1856232" y="4773168"/>
            <a:ext cx="127101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2004-2024</a:t>
            </a:r>
            <a:endParaRPr lang="en-US" sz="2400" dirty="0"/>
          </a:p>
        </p:txBody>
      </p:sp>
      <p:sp>
        <p:nvSpPr>
          <p:cNvPr id="14" name="Text 11"/>
          <p:cNvSpPr/>
          <p:nvPr/>
        </p:nvSpPr>
        <p:spPr>
          <a:xfrm>
            <a:off x="1874520" y="5138928"/>
            <a:ext cx="1234440" cy="237744"/>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analysis window</a:t>
            </a:r>
            <a:endParaRPr lang="en-US" sz="1100" dirty="0"/>
          </a:p>
        </p:txBody>
      </p:sp>
      <p:sp>
        <p:nvSpPr>
          <p:cNvPr id="15" name="Shape 12"/>
          <p:cNvSpPr/>
          <p:nvPr/>
        </p:nvSpPr>
        <p:spPr>
          <a:xfrm>
            <a:off x="3337560" y="4663440"/>
            <a:ext cx="1371600" cy="749808"/>
          </a:xfrm>
          <a:prstGeom prst="roundRect">
            <a:avLst>
              <a:gd name="adj" fmla="val 9756"/>
            </a:avLst>
          </a:prstGeom>
          <a:solidFill>
            <a:srgbClr val="EAF2F8"/>
          </a:solidFill>
          <a:ln w="12700">
            <a:solidFill>
              <a:srgbClr val="EAF2F8">
                <a:alpha val="0"/>
              </a:srgbClr>
            </a:solidFill>
            <a:prstDash val="solid"/>
          </a:ln>
        </p:spPr>
      </p:sp>
      <p:sp>
        <p:nvSpPr>
          <p:cNvPr id="16" name="Text 13"/>
          <p:cNvSpPr/>
          <p:nvPr/>
        </p:nvSpPr>
        <p:spPr>
          <a:xfrm>
            <a:off x="3410712" y="4773168"/>
            <a:ext cx="122529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Month-end</a:t>
            </a:r>
            <a:endParaRPr lang="en-US" sz="2400" dirty="0"/>
          </a:p>
        </p:txBody>
      </p:sp>
      <p:sp>
        <p:nvSpPr>
          <p:cNvPr id="17" name="Text 14"/>
          <p:cNvSpPr/>
          <p:nvPr/>
        </p:nvSpPr>
        <p:spPr>
          <a:xfrm>
            <a:off x="3429000" y="5138928"/>
            <a:ext cx="1188720" cy="237744"/>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alignment rule</a:t>
            </a:r>
            <a:endParaRPr lang="en-US" sz="1100" dirty="0"/>
          </a:p>
        </p:txBody>
      </p:sp>
      <p:sp>
        <p:nvSpPr>
          <p:cNvPr id="18" name="Text 15"/>
          <p:cNvSpPr/>
          <p:nvPr/>
        </p:nvSpPr>
        <p:spPr>
          <a:xfrm>
            <a:off x="4892040" y="4709160"/>
            <a:ext cx="3657600" cy="365760"/>
          </a:xfrm>
          <a:prstGeom prst="rect">
            <a:avLst/>
          </a:prstGeom>
          <a:noFill/>
          <a:ln/>
        </p:spPr>
        <p:txBody>
          <a:bodyPr wrap="square" lIns="0" tIns="0" rIns="0" bIns="0" rtlCol="0" anchor="ctr"/>
          <a:lstStyle/>
          <a:p>
            <a:pPr indent="0" marL="0">
              <a:buNone/>
            </a:pPr>
            <a:r>
              <a:rPr lang="en-US" sz="1150" dirty="0">
                <a:solidFill>
                  <a:srgbClr val="243447"/>
                </a:solidFill>
                <a:latin typeface="Calibri" pitchFamily="34" charset="0"/>
                <a:ea typeface="Calibri" pitchFamily="34" charset="-122"/>
                <a:cs typeface="Calibri" pitchFamily="34" charset="-120"/>
              </a:rPr>
              <a:t>Why month-end matters: it aligns investor mood with pricing horizons and avoids smoothing away the last signal in the month.</a:t>
            </a:r>
            <a:endParaRPr lang="en-US" sz="1150" dirty="0"/>
          </a:p>
        </p:txBody>
      </p:sp>
      <p:sp>
        <p:nvSpPr>
          <p:cNvPr id="20" name="Text 16"/>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3/10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Exploratory analysis</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M2: The EDA pointed to a short-run sentiment channel</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pic>
        <p:nvPicPr>
          <p:cNvPr id="5" name="Image 0" descr="/workspaces/qm2023-capstone-2nd-row-team/results/figures/M2_01_correlation_heatmap.png">    </p:cNvPr>
          <p:cNvPicPr>
            <a:picLocks noChangeAspect="1"/>
          </p:cNvPicPr>
          <p:nvPr/>
        </p:nvPicPr>
        <p:blipFill>
          <a:blip r:embed="rId1"/>
          <a:srcRect l="0" r="0" t="0" b="0"/>
          <a:stretch/>
        </p:blipFill>
        <p:spPr>
          <a:xfrm>
            <a:off x="502920" y="1691640"/>
            <a:ext cx="3931920" cy="2926080"/>
          </a:xfrm>
          <a:prstGeom prst="rect">
            <a:avLst/>
          </a:prstGeom>
        </p:spPr>
      </p:pic>
      <p:sp>
        <p:nvSpPr>
          <p:cNvPr id="6" name="Shape 3"/>
          <p:cNvSpPr/>
          <p:nvPr/>
        </p:nvSpPr>
        <p:spPr>
          <a:xfrm>
            <a:off x="4572000" y="1691640"/>
            <a:ext cx="4069080" cy="914400"/>
          </a:xfrm>
          <a:prstGeom prst="roundRect">
            <a:avLst>
              <a:gd name="adj" fmla="val 8000"/>
            </a:avLst>
          </a:prstGeom>
          <a:solidFill>
            <a:srgbClr val="FFFFFF"/>
          </a:solidFill>
          <a:ln w="12700">
            <a:solidFill>
              <a:srgbClr val="D7DDE4">
                <a:alpha val="0"/>
              </a:srgbClr>
            </a:solidFill>
            <a:prstDash val="solid"/>
          </a:ln>
          <a:effectLst>
            <a:outerShdw sx="100000" sy="100000" kx="0" ky="0" algn="bl" rotWithShape="0" blurRad="25400" dist="12700" dir="2700000">
              <a:srgbClr val="000000">
                <a:alpha val="12000"/>
              </a:srgbClr>
            </a:outerShdw>
          </a:effectLst>
        </p:spPr>
      </p:sp>
      <p:sp>
        <p:nvSpPr>
          <p:cNvPr id="7" name="Text 4"/>
          <p:cNvSpPr/>
          <p:nvPr/>
        </p:nvSpPr>
        <p:spPr>
          <a:xfrm>
            <a:off x="4736592" y="1819656"/>
            <a:ext cx="37398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Headline correlation</a:t>
            </a:r>
            <a:endParaRPr lang="en-US" sz="1500" dirty="0"/>
          </a:p>
        </p:txBody>
      </p:sp>
      <p:sp>
        <p:nvSpPr>
          <p:cNvPr id="8" name="Text 5"/>
          <p:cNvSpPr/>
          <p:nvPr/>
        </p:nvSpPr>
        <p:spPr>
          <a:xfrm>
            <a:off x="4736592" y="2112264"/>
            <a:ext cx="3739896" cy="3840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Market returns correlate weakly with Michigan sentiment (0.029) but more strongly with AAII bull-bear spread (0.461).</a:t>
            </a:r>
            <a:endParaRPr lang="en-US" sz="1200" dirty="0"/>
          </a:p>
        </p:txBody>
      </p:sp>
      <p:sp>
        <p:nvSpPr>
          <p:cNvPr id="9" name="Shape 6"/>
          <p:cNvSpPr/>
          <p:nvPr/>
        </p:nvSpPr>
        <p:spPr>
          <a:xfrm>
            <a:off x="4572000" y="2743200"/>
            <a:ext cx="4069080" cy="868680"/>
          </a:xfrm>
          <a:prstGeom prst="roundRect">
            <a:avLst>
              <a:gd name="adj" fmla="val 8421"/>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10" name="Text 7"/>
          <p:cNvSpPr/>
          <p:nvPr/>
        </p:nvSpPr>
        <p:spPr>
          <a:xfrm>
            <a:off x="4736592" y="2871216"/>
            <a:ext cx="37398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Lag structure</a:t>
            </a:r>
            <a:endParaRPr lang="en-US" sz="1500" dirty="0"/>
          </a:p>
        </p:txBody>
      </p:sp>
      <p:sp>
        <p:nvSpPr>
          <p:cNvPr id="11" name="Text 8"/>
          <p:cNvSpPr/>
          <p:nvPr/>
        </p:nvSpPr>
        <p:spPr>
          <a:xfrm>
            <a:off x="4736592" y="3163824"/>
            <a:ext cx="3739896" cy="3383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largest lagged relationship appeared around 12 months, which justified testing lagged sentiment in M3.</a:t>
            </a:r>
            <a:endParaRPr lang="en-US" sz="1200" dirty="0"/>
          </a:p>
        </p:txBody>
      </p:sp>
      <p:sp>
        <p:nvSpPr>
          <p:cNvPr id="12" name="Shape 9"/>
          <p:cNvSpPr/>
          <p:nvPr/>
        </p:nvSpPr>
        <p:spPr>
          <a:xfrm>
            <a:off x="4572000" y="3730752"/>
            <a:ext cx="4069080" cy="868680"/>
          </a:xfrm>
          <a:prstGeom prst="roundRect">
            <a:avLst>
              <a:gd name="adj" fmla="val 8421"/>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3" name="Text 10"/>
          <p:cNvSpPr/>
          <p:nvPr/>
        </p:nvSpPr>
        <p:spPr>
          <a:xfrm>
            <a:off x="4736592" y="3858768"/>
            <a:ext cx="37398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Economic reading</a:t>
            </a:r>
            <a:endParaRPr lang="en-US" sz="1500" dirty="0"/>
          </a:p>
        </p:txBody>
      </p:sp>
      <p:sp>
        <p:nvSpPr>
          <p:cNvPr id="14" name="Text 11"/>
          <p:cNvSpPr/>
          <p:nvPr/>
        </p:nvSpPr>
        <p:spPr>
          <a:xfrm>
            <a:off x="4736592" y="4151376"/>
            <a:ext cx="3739896" cy="3383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Retail positioning seems to move faster than broad consumer confidence, especially near turning points.</a:t>
            </a:r>
            <a:endParaRPr lang="en-US" sz="1200" dirty="0"/>
          </a:p>
        </p:txBody>
      </p:sp>
      <p:sp>
        <p:nvSpPr>
          <p:cNvPr id="15" name="Text 12"/>
          <p:cNvSpPr/>
          <p:nvPr/>
        </p:nvSpPr>
        <p:spPr>
          <a:xfrm>
            <a:off x="4572000" y="4754880"/>
            <a:ext cx="3931920" cy="219456"/>
          </a:xfrm>
          <a:prstGeom prst="rect">
            <a:avLst/>
          </a:prstGeom>
          <a:noFill/>
          <a:ln/>
        </p:spPr>
        <p:txBody>
          <a:bodyPr wrap="square" lIns="0" tIns="0" rIns="0" bIns="0" rtlCol="0" anchor="ctr"/>
          <a:lstStyle/>
          <a:p>
            <a:pPr indent="0" marL="0">
              <a:buNone/>
            </a:pPr>
            <a:r>
              <a:rPr lang="en-US" sz="1150" i="1" dirty="0">
                <a:solidFill>
                  <a:srgbClr val="6C7A89"/>
                </a:solidFill>
                <a:latin typeface="Calibri" pitchFamily="34" charset="0"/>
                <a:ea typeface="Calibri" pitchFamily="34" charset="-122"/>
                <a:cs typeface="Calibri" pitchFamily="34" charset="-120"/>
              </a:rPr>
              <a:t>Use sentiment as an indicator of market mood, but not as a one-variable forecast model.</a:t>
            </a:r>
            <a:endParaRPr lang="en-US" sz="1150" dirty="0"/>
          </a:p>
        </p:txBody>
      </p:sp>
      <p:sp>
        <p:nvSpPr>
          <p:cNvPr id="17" name="Text 13"/>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4/10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Regression failure that still mattered</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M3: The aggregate timing model did not produce stable alpha</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pic>
        <p:nvPicPr>
          <p:cNvPr id="5" name="Image 0" descr="/workspaces/qm2023-capstone-2nd-row-team/results/figures/m3_market_model_fit.png">    </p:cNvPr>
          <p:cNvPicPr>
            <a:picLocks noChangeAspect="1"/>
          </p:cNvPicPr>
          <p:nvPr/>
        </p:nvPicPr>
        <p:blipFill>
          <a:blip r:embed="rId1"/>
          <a:srcRect l="0" r="0" t="0" b="0"/>
          <a:stretch/>
        </p:blipFill>
        <p:spPr>
          <a:xfrm>
            <a:off x="502920" y="1664208"/>
            <a:ext cx="4526280" cy="3063240"/>
          </a:xfrm>
          <a:prstGeom prst="rect">
            <a:avLst/>
          </a:prstGeom>
        </p:spPr>
      </p:pic>
      <p:sp>
        <p:nvSpPr>
          <p:cNvPr id="6" name="Shape 3"/>
          <p:cNvSpPr/>
          <p:nvPr/>
        </p:nvSpPr>
        <p:spPr>
          <a:xfrm>
            <a:off x="5257800" y="1664208"/>
            <a:ext cx="3383280" cy="841248"/>
          </a:xfrm>
          <a:prstGeom prst="roundRect">
            <a:avLst>
              <a:gd name="adj" fmla="val 8696"/>
            </a:avLst>
          </a:prstGeom>
          <a:solidFill>
            <a:srgbClr val="EAF2F8"/>
          </a:solidFill>
          <a:ln w="12700">
            <a:solidFill>
              <a:srgbClr val="EAF2F8">
                <a:alpha val="0"/>
              </a:srgbClr>
            </a:solidFill>
            <a:prstDash val="solid"/>
          </a:ln>
          <a:effectLst>
            <a:outerShdw sx="100000" sy="100000" kx="0" ky="0" algn="bl" rotWithShape="0" blurRad="25400" dist="12700" dir="2700000">
              <a:srgbClr val="000000">
                <a:alpha val="12000"/>
              </a:srgbClr>
            </a:outerShdw>
          </a:effectLst>
        </p:spPr>
      </p:sp>
      <p:sp>
        <p:nvSpPr>
          <p:cNvPr id="7" name="Text 4"/>
          <p:cNvSpPr/>
          <p:nvPr/>
        </p:nvSpPr>
        <p:spPr>
          <a:xfrm>
            <a:off x="5422392" y="1792224"/>
            <a:ext cx="30540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Direct signal</a:t>
            </a:r>
            <a:endParaRPr lang="en-US" sz="1500" dirty="0"/>
          </a:p>
        </p:txBody>
      </p:sp>
      <p:sp>
        <p:nvSpPr>
          <p:cNvPr id="8" name="Text 5"/>
          <p:cNvSpPr/>
          <p:nvPr/>
        </p:nvSpPr>
        <p:spPr>
          <a:xfrm>
            <a:off x="5422392" y="2084832"/>
            <a:ext cx="3054096" cy="310896"/>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broad-market sentiment coefficients were close to zero and statistically weak.</a:t>
            </a:r>
            <a:endParaRPr lang="en-US" sz="1200" dirty="0"/>
          </a:p>
        </p:txBody>
      </p:sp>
      <p:sp>
        <p:nvSpPr>
          <p:cNvPr id="9" name="Shape 6"/>
          <p:cNvSpPr/>
          <p:nvPr/>
        </p:nvSpPr>
        <p:spPr>
          <a:xfrm>
            <a:off x="5257800" y="2615184"/>
            <a:ext cx="3383280" cy="841248"/>
          </a:xfrm>
          <a:prstGeom prst="roundRect">
            <a:avLst>
              <a:gd name="adj" fmla="val 8696"/>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0" name="Text 7"/>
          <p:cNvSpPr/>
          <p:nvPr/>
        </p:nvSpPr>
        <p:spPr>
          <a:xfrm>
            <a:off x="5422392" y="2743200"/>
            <a:ext cx="30540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Interpretation</a:t>
            </a:r>
            <a:endParaRPr lang="en-US" sz="1500" dirty="0"/>
          </a:p>
        </p:txBody>
      </p:sp>
      <p:sp>
        <p:nvSpPr>
          <p:cNvPr id="11" name="Text 8"/>
          <p:cNvSpPr/>
          <p:nvPr/>
        </p:nvSpPr>
        <p:spPr>
          <a:xfrm>
            <a:off x="5422392" y="3035808"/>
            <a:ext cx="3054096" cy="310896"/>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market appears to absorb sentiment quickly, or sentiment matters only through exposure and liquidity channels.</a:t>
            </a:r>
            <a:endParaRPr lang="en-US" sz="1200" dirty="0"/>
          </a:p>
        </p:txBody>
      </p:sp>
      <p:sp>
        <p:nvSpPr>
          <p:cNvPr id="12" name="Shape 9"/>
          <p:cNvSpPr/>
          <p:nvPr/>
        </p:nvSpPr>
        <p:spPr>
          <a:xfrm>
            <a:off x="5257800" y="3566160"/>
            <a:ext cx="3383280" cy="1005840"/>
          </a:xfrm>
          <a:prstGeom prst="roundRect">
            <a:avLst>
              <a:gd name="adj" fmla="val 7273"/>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13" name="Text 10"/>
          <p:cNvSpPr/>
          <p:nvPr/>
        </p:nvSpPr>
        <p:spPr>
          <a:xfrm>
            <a:off x="5422392" y="3694176"/>
            <a:ext cx="305409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Why this is useful</a:t>
            </a:r>
            <a:endParaRPr lang="en-US" sz="1500" dirty="0"/>
          </a:p>
        </p:txBody>
      </p:sp>
      <p:sp>
        <p:nvSpPr>
          <p:cNvPr id="14" name="Text 11"/>
          <p:cNvSpPr/>
          <p:nvPr/>
        </p:nvSpPr>
        <p:spPr>
          <a:xfrm>
            <a:off x="5422392" y="3986784"/>
            <a:ext cx="3054096" cy="47548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A null direct effect is not a dead end. It tells us the right question is not whether sentiment moves every monthly return, but when and where it changes risk pricing.</a:t>
            </a:r>
            <a:endParaRPr lang="en-US" sz="1200" dirty="0"/>
          </a:p>
        </p:txBody>
      </p:sp>
      <p:sp>
        <p:nvSpPr>
          <p:cNvPr id="15" name="Text 12"/>
          <p:cNvSpPr/>
          <p:nvPr/>
        </p:nvSpPr>
        <p:spPr>
          <a:xfrm>
            <a:off x="5257800" y="4736592"/>
            <a:ext cx="3566160" cy="182880"/>
          </a:xfrm>
          <a:prstGeom prst="rect">
            <a:avLst/>
          </a:prstGeom>
          <a:noFill/>
          <a:ln/>
        </p:spPr>
        <p:txBody>
          <a:bodyPr wrap="square" lIns="0" tIns="0" rIns="0" bIns="0" rtlCol="0" anchor="ctr"/>
          <a:lstStyle/>
          <a:p>
            <a:pPr indent="0" marL="0">
              <a:buNone/>
            </a:pPr>
            <a:r>
              <a:rPr lang="en-US" sz="1100" b="1" dirty="0">
                <a:solidFill>
                  <a:srgbClr val="6C7A89"/>
                </a:solidFill>
                <a:latin typeface="Calibri" pitchFamily="34" charset="0"/>
                <a:ea typeface="Calibri" pitchFamily="34" charset="-122"/>
                <a:cs typeface="Calibri" pitchFamily="34" charset="-120"/>
              </a:rPr>
              <a:t>M3 failure = boundary condition for the final recommendation</a:t>
            </a:r>
            <a:endParaRPr lang="en-US" sz="1100" dirty="0"/>
          </a:p>
        </p:txBody>
      </p:sp>
      <p:sp>
        <p:nvSpPr>
          <p:cNvPr id="17" name="Text 13"/>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5/10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8"/>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Event study</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When markets break, sentiment becomes economically visible</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pic>
        <p:nvPicPr>
          <p:cNvPr id="5" name="Image 0" descr="/workspaces/qm2023-capstone-2nd-row-team/results/figures/time_series_event_study_window_bars.png">    </p:cNvPr>
          <p:cNvPicPr>
            <a:picLocks noChangeAspect="1"/>
          </p:cNvPicPr>
          <p:nvPr/>
        </p:nvPicPr>
        <p:blipFill>
          <a:blip r:embed="rId1"/>
          <a:srcRect l="0" r="0" t="0" b="0"/>
          <a:stretch/>
        </p:blipFill>
        <p:spPr>
          <a:xfrm>
            <a:off x="530352" y="1664208"/>
            <a:ext cx="4754880" cy="3246120"/>
          </a:xfrm>
          <a:prstGeom prst="rect">
            <a:avLst/>
          </a:prstGeom>
        </p:spPr>
      </p:pic>
      <p:sp>
        <p:nvSpPr>
          <p:cNvPr id="6" name="Shape 3"/>
          <p:cNvSpPr/>
          <p:nvPr/>
        </p:nvSpPr>
        <p:spPr>
          <a:xfrm>
            <a:off x="5486400" y="1664208"/>
            <a:ext cx="2788920" cy="987552"/>
          </a:xfrm>
          <a:prstGeom prst="roundRect">
            <a:avLst>
              <a:gd name="adj" fmla="val 4630"/>
            </a:avLst>
          </a:prstGeom>
          <a:solidFill>
            <a:srgbClr val="FFFFFF"/>
          </a:solidFill>
          <a:ln w="12700">
            <a:solidFill>
              <a:srgbClr val="D7DDE4"/>
            </a:solidFill>
            <a:prstDash val="solid"/>
          </a:ln>
          <a:effectLst>
            <a:outerShdw sx="100000" sy="100000" kx="0" ky="0" algn="bl" rotWithShape="0" blurRad="12700" dist="12700" dir="2700000">
              <a:srgbClr val="000000">
                <a:alpha val="8000"/>
              </a:srgbClr>
            </a:outerShdw>
          </a:effectLst>
        </p:spPr>
      </p:sp>
      <p:sp>
        <p:nvSpPr>
          <p:cNvPr id="7" name="Text 4"/>
          <p:cNvSpPr/>
          <p:nvPr/>
        </p:nvSpPr>
        <p:spPr>
          <a:xfrm>
            <a:off x="5632704" y="1773936"/>
            <a:ext cx="2496312" cy="219456"/>
          </a:xfrm>
          <a:prstGeom prst="rect">
            <a:avLst/>
          </a:prstGeom>
          <a:noFill/>
          <a:ln/>
        </p:spPr>
        <p:txBody>
          <a:bodyPr wrap="square" lIns="0" tIns="0" rIns="0" bIns="0" rtlCol="0" anchor="ctr"/>
          <a:lstStyle/>
          <a:p>
            <a:pPr indent="0" marL="0">
              <a:buNone/>
            </a:pPr>
            <a:r>
              <a:rPr lang="en-US" sz="1400" b="1" dirty="0">
                <a:solidFill>
                  <a:srgbClr val="0F2747"/>
                </a:solidFill>
                <a:latin typeface="Georgia" pitchFamily="34" charset="0"/>
                <a:ea typeface="Georgia" pitchFamily="34" charset="-122"/>
                <a:cs typeface="Georgia" pitchFamily="34" charset="-120"/>
              </a:rPr>
              <a:t>2008 crisis</a:t>
            </a:r>
            <a:endParaRPr lang="en-US" sz="1400" dirty="0"/>
          </a:p>
        </p:txBody>
      </p:sp>
      <p:sp>
        <p:nvSpPr>
          <p:cNvPr id="8" name="Text 5"/>
          <p:cNvSpPr/>
          <p:nvPr/>
        </p:nvSpPr>
        <p:spPr>
          <a:xfrm>
            <a:off x="5650992" y="2048256"/>
            <a:ext cx="2459736" cy="512064"/>
          </a:xfrm>
          <a:prstGeom prst="rect">
            <a:avLst/>
          </a:prstGeom>
          <a:noFill/>
          <a:ln/>
        </p:spPr>
        <p:txBody>
          <a:bodyPr wrap="square" lIns="0" tIns="0" rIns="0" bIns="0" rtlCol="0" anchor="ctr"/>
          <a:lstStyle/>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Cumulative abnormal returns were sharply negative across the event windows.</a:t>
            </a:r>
            <a:endParaRPr lang="en-US" sz="1200" dirty="0"/>
          </a:p>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This is a repricing of default risk, funding stress, and recession odds.</a:t>
            </a:r>
            <a:endParaRPr lang="en-US" sz="1200" dirty="0"/>
          </a:p>
        </p:txBody>
      </p:sp>
      <p:sp>
        <p:nvSpPr>
          <p:cNvPr id="9" name="Shape 6"/>
          <p:cNvSpPr/>
          <p:nvPr/>
        </p:nvSpPr>
        <p:spPr>
          <a:xfrm>
            <a:off x="5486400" y="2743200"/>
            <a:ext cx="2788920" cy="987552"/>
          </a:xfrm>
          <a:prstGeom prst="roundRect">
            <a:avLst>
              <a:gd name="adj" fmla="val 4630"/>
            </a:avLst>
          </a:prstGeom>
          <a:solidFill>
            <a:srgbClr val="FFFFFF"/>
          </a:solidFill>
          <a:ln w="12700">
            <a:solidFill>
              <a:srgbClr val="D7DDE4"/>
            </a:solidFill>
            <a:prstDash val="solid"/>
          </a:ln>
          <a:effectLst>
            <a:outerShdw sx="100000" sy="100000" kx="0" ky="0" algn="bl" rotWithShape="0" blurRad="12700" dist="12700" dir="2700000">
              <a:srgbClr val="000000">
                <a:alpha val="8000"/>
              </a:srgbClr>
            </a:outerShdw>
          </a:effectLst>
        </p:spPr>
      </p:sp>
      <p:sp>
        <p:nvSpPr>
          <p:cNvPr id="10" name="Text 7"/>
          <p:cNvSpPr/>
          <p:nvPr/>
        </p:nvSpPr>
        <p:spPr>
          <a:xfrm>
            <a:off x="5632704" y="2852928"/>
            <a:ext cx="2496312" cy="219456"/>
          </a:xfrm>
          <a:prstGeom prst="rect">
            <a:avLst/>
          </a:prstGeom>
          <a:noFill/>
          <a:ln/>
        </p:spPr>
        <p:txBody>
          <a:bodyPr wrap="square" lIns="0" tIns="0" rIns="0" bIns="0" rtlCol="0" anchor="ctr"/>
          <a:lstStyle/>
          <a:p>
            <a:pPr indent="0" marL="0">
              <a:buNone/>
            </a:pPr>
            <a:r>
              <a:rPr lang="en-US" sz="1400" b="1" dirty="0">
                <a:solidFill>
                  <a:srgbClr val="0F2747"/>
                </a:solidFill>
                <a:latin typeface="Georgia" pitchFamily="34" charset="0"/>
                <a:ea typeface="Georgia" pitchFamily="34" charset="-122"/>
                <a:cs typeface="Georgia" pitchFamily="34" charset="-120"/>
              </a:rPr>
              <a:t>COVID shock</a:t>
            </a:r>
            <a:endParaRPr lang="en-US" sz="1400" dirty="0"/>
          </a:p>
        </p:txBody>
      </p:sp>
      <p:sp>
        <p:nvSpPr>
          <p:cNvPr id="11" name="Text 8"/>
          <p:cNvSpPr/>
          <p:nvPr/>
        </p:nvSpPr>
        <p:spPr>
          <a:xfrm>
            <a:off x="5650992" y="3127248"/>
            <a:ext cx="2459736" cy="512064"/>
          </a:xfrm>
          <a:prstGeom prst="rect">
            <a:avLst/>
          </a:prstGeom>
          <a:noFill/>
          <a:ln/>
        </p:spPr>
        <p:txBody>
          <a:bodyPr wrap="square" lIns="0" tIns="0" rIns="0" bIns="0" rtlCol="0" anchor="ctr"/>
          <a:lstStyle/>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The immediate shock was severe, but the recovery path was faster than 2008.</a:t>
            </a:r>
            <a:endParaRPr lang="en-US" sz="1200" dirty="0"/>
          </a:p>
          <a:p>
            <a:pPr marL="177800" indent="-177800">
              <a:buSzPct val="100000"/>
              <a:buChar char="•"/>
            </a:pPr>
            <a:r>
              <a:rPr lang="en-US" sz="1200" dirty="0">
                <a:solidFill>
                  <a:srgbClr val="243447"/>
                </a:solidFill>
                <a:latin typeface="Calibri" pitchFamily="34" charset="0"/>
                <a:ea typeface="Calibri" pitchFamily="34" charset="-122"/>
                <a:cs typeface="Calibri" pitchFamily="34" charset="-120"/>
              </a:rPr>
              <a:t>Markets interpreted the shock as temporary but severe, with policy support quickly priced in.</a:t>
            </a:r>
            <a:endParaRPr lang="en-US" sz="1200" dirty="0"/>
          </a:p>
        </p:txBody>
      </p:sp>
      <p:sp>
        <p:nvSpPr>
          <p:cNvPr id="12" name="Shape 9"/>
          <p:cNvSpPr/>
          <p:nvPr/>
        </p:nvSpPr>
        <p:spPr>
          <a:xfrm>
            <a:off x="5486400" y="3886200"/>
            <a:ext cx="2788920" cy="868680"/>
          </a:xfrm>
          <a:prstGeom prst="roundRect">
            <a:avLst>
              <a:gd name="adj" fmla="val 8421"/>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13" name="Text 10"/>
          <p:cNvSpPr/>
          <p:nvPr/>
        </p:nvSpPr>
        <p:spPr>
          <a:xfrm>
            <a:off x="5650992" y="4014216"/>
            <a:ext cx="245973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Economic message</a:t>
            </a:r>
            <a:endParaRPr lang="en-US" sz="1500" dirty="0"/>
          </a:p>
        </p:txBody>
      </p:sp>
      <p:sp>
        <p:nvSpPr>
          <p:cNvPr id="14" name="Text 11"/>
          <p:cNvSpPr/>
          <p:nvPr/>
        </p:nvSpPr>
        <p:spPr>
          <a:xfrm>
            <a:off x="5650992" y="4306824"/>
            <a:ext cx="2459736" cy="3383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Sentiment is most useful at inflection points, not in calm periods.</a:t>
            </a:r>
            <a:endParaRPr lang="en-US" sz="1200" dirty="0"/>
          </a:p>
        </p:txBody>
      </p:sp>
      <p:sp>
        <p:nvSpPr>
          <p:cNvPr id="16" name="Text 12"/>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6/10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Firm-level fixed effects</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M3v2: The panel model says smaller firms are more sentiment-sensitive</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pic>
        <p:nvPicPr>
          <p:cNvPr id="5" name="Image 0" descr="/workspaces/qm2023-capstone-2nd-row-team/results/figures/m3v2_group_trends.png">    </p:cNvPr>
          <p:cNvPicPr>
            <a:picLocks noChangeAspect="1"/>
          </p:cNvPicPr>
          <p:nvPr/>
        </p:nvPicPr>
        <p:blipFill>
          <a:blip r:embed="rId1"/>
          <a:srcRect l="0" r="0" t="0" b="0"/>
          <a:stretch/>
        </p:blipFill>
        <p:spPr>
          <a:xfrm>
            <a:off x="502920" y="1691640"/>
            <a:ext cx="3977640" cy="2880360"/>
          </a:xfrm>
          <a:prstGeom prst="rect">
            <a:avLst/>
          </a:prstGeom>
        </p:spPr>
      </p:pic>
      <p:pic>
        <p:nvPicPr>
          <p:cNvPr id="6" name="Image 1" descr="/workspaces/qm2023-capstone-2nd-row-team/results/figures/m3v2_interaction_elasticity.png">    </p:cNvPr>
          <p:cNvPicPr>
            <a:picLocks noChangeAspect="1"/>
          </p:cNvPicPr>
          <p:nvPr/>
        </p:nvPicPr>
        <p:blipFill>
          <a:blip r:embed="rId2"/>
          <a:srcRect l="0" r="0" t="0" b="0"/>
          <a:stretch/>
        </p:blipFill>
        <p:spPr>
          <a:xfrm>
            <a:off x="4617720" y="1691640"/>
            <a:ext cx="3977640" cy="2880360"/>
          </a:xfrm>
          <a:prstGeom prst="rect">
            <a:avLst/>
          </a:prstGeom>
        </p:spPr>
      </p:pic>
      <p:sp>
        <p:nvSpPr>
          <p:cNvPr id="7" name="Shape 3"/>
          <p:cNvSpPr/>
          <p:nvPr/>
        </p:nvSpPr>
        <p:spPr>
          <a:xfrm>
            <a:off x="658368" y="4800600"/>
            <a:ext cx="1417320" cy="658368"/>
          </a:xfrm>
          <a:prstGeom prst="roundRect">
            <a:avLst>
              <a:gd name="adj" fmla="val 11111"/>
            </a:avLst>
          </a:prstGeom>
          <a:solidFill>
            <a:srgbClr val="E6F7F6"/>
          </a:solidFill>
          <a:ln w="12700">
            <a:solidFill>
              <a:srgbClr val="E6F7F6">
                <a:alpha val="0"/>
              </a:srgbClr>
            </a:solidFill>
            <a:prstDash val="solid"/>
          </a:ln>
        </p:spPr>
      </p:sp>
      <p:sp>
        <p:nvSpPr>
          <p:cNvPr id="8" name="Text 4"/>
          <p:cNvSpPr/>
          <p:nvPr/>
        </p:nvSpPr>
        <p:spPr>
          <a:xfrm>
            <a:off x="731520" y="4910328"/>
            <a:ext cx="127101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0.211*</a:t>
            </a:r>
            <a:endParaRPr lang="en-US" sz="2400" dirty="0"/>
          </a:p>
        </p:txBody>
      </p:sp>
      <p:sp>
        <p:nvSpPr>
          <p:cNvPr id="9" name="Text 5"/>
          <p:cNvSpPr/>
          <p:nvPr/>
        </p:nvSpPr>
        <p:spPr>
          <a:xfrm>
            <a:off x="749808" y="5276088"/>
            <a:ext cx="1234440" cy="146304"/>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sentiment x small-firm exposure</a:t>
            </a:r>
            <a:endParaRPr lang="en-US" sz="1100" dirty="0"/>
          </a:p>
        </p:txBody>
      </p:sp>
      <p:sp>
        <p:nvSpPr>
          <p:cNvPr id="10" name="Shape 6"/>
          <p:cNvSpPr/>
          <p:nvPr/>
        </p:nvSpPr>
        <p:spPr>
          <a:xfrm>
            <a:off x="2212848" y="4800600"/>
            <a:ext cx="1325880" cy="658368"/>
          </a:xfrm>
          <a:prstGeom prst="roundRect">
            <a:avLst>
              <a:gd name="adj" fmla="val 11111"/>
            </a:avLst>
          </a:prstGeom>
          <a:solidFill>
            <a:srgbClr val="EAF2F8"/>
          </a:solidFill>
          <a:ln w="12700">
            <a:solidFill>
              <a:srgbClr val="EAF2F8">
                <a:alpha val="0"/>
              </a:srgbClr>
            </a:solidFill>
            <a:prstDash val="solid"/>
          </a:ln>
        </p:spPr>
      </p:sp>
      <p:sp>
        <p:nvSpPr>
          <p:cNvPr id="11" name="Text 7"/>
          <p:cNvSpPr/>
          <p:nvPr/>
        </p:nvSpPr>
        <p:spPr>
          <a:xfrm>
            <a:off x="2286000" y="4910328"/>
            <a:ext cx="1179576" cy="329184"/>
          </a:xfrm>
          <a:prstGeom prst="rect">
            <a:avLst/>
          </a:prstGeom>
          <a:noFill/>
          <a:ln/>
        </p:spPr>
        <p:txBody>
          <a:bodyPr wrap="square" lIns="0" tIns="0" rIns="0" bIns="0" rtlCol="0" anchor="ctr"/>
          <a:lstStyle/>
          <a:p>
            <a:pPr algn="ctr" indent="0" marL="0">
              <a:buNone/>
            </a:pPr>
            <a:r>
              <a:rPr lang="en-US" sz="2400" b="1" dirty="0">
                <a:solidFill>
                  <a:srgbClr val="0F2747"/>
                </a:solidFill>
                <a:latin typeface="Georgia" pitchFamily="34" charset="0"/>
                <a:ea typeface="Georgia" pitchFamily="34" charset="-122"/>
                <a:cs typeface="Georgia" pitchFamily="34" charset="-120"/>
              </a:rPr>
              <a:t>p = 0.0418</a:t>
            </a:r>
            <a:endParaRPr lang="en-US" sz="2400" dirty="0"/>
          </a:p>
        </p:txBody>
      </p:sp>
      <p:sp>
        <p:nvSpPr>
          <p:cNvPr id="12" name="Text 8"/>
          <p:cNvSpPr/>
          <p:nvPr/>
        </p:nvSpPr>
        <p:spPr>
          <a:xfrm>
            <a:off x="2304288" y="5276088"/>
            <a:ext cx="1143000" cy="146304"/>
          </a:xfrm>
          <a:prstGeom prst="rect">
            <a:avLst/>
          </a:prstGeom>
          <a:noFill/>
          <a:ln/>
        </p:spPr>
        <p:txBody>
          <a:bodyPr wrap="square" lIns="0" tIns="0" rIns="0" bIns="0" rtlCol="0" anchor="ctr"/>
          <a:lstStyle/>
          <a:p>
            <a:pPr algn="ctr" indent="0" marL="0">
              <a:buNone/>
            </a:pPr>
            <a:r>
              <a:rPr lang="en-US" sz="1100" dirty="0">
                <a:solidFill>
                  <a:srgbClr val="6C7A89"/>
                </a:solidFill>
                <a:latin typeface="Calibri" pitchFamily="34" charset="0"/>
                <a:ea typeface="Calibri" pitchFamily="34" charset="-122"/>
                <a:cs typeface="Calibri" pitchFamily="34" charset="-120"/>
              </a:rPr>
              <a:t>statistical evidence</a:t>
            </a:r>
            <a:endParaRPr lang="en-US" sz="1100" dirty="0"/>
          </a:p>
        </p:txBody>
      </p:sp>
      <p:sp>
        <p:nvSpPr>
          <p:cNvPr id="13" name="Shape 9"/>
          <p:cNvSpPr/>
          <p:nvPr/>
        </p:nvSpPr>
        <p:spPr>
          <a:xfrm>
            <a:off x="3694176" y="4681728"/>
            <a:ext cx="4663440" cy="841248"/>
          </a:xfrm>
          <a:prstGeom prst="roundRect">
            <a:avLst>
              <a:gd name="adj" fmla="val 8696"/>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4" name="Text 10"/>
          <p:cNvSpPr/>
          <p:nvPr/>
        </p:nvSpPr>
        <p:spPr>
          <a:xfrm>
            <a:off x="3858768" y="4809744"/>
            <a:ext cx="433425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Economic reading</a:t>
            </a:r>
            <a:endParaRPr lang="en-US" sz="1500" dirty="0"/>
          </a:p>
        </p:txBody>
      </p:sp>
      <p:sp>
        <p:nvSpPr>
          <p:cNvPr id="15" name="Text 11"/>
          <p:cNvSpPr/>
          <p:nvPr/>
        </p:nvSpPr>
        <p:spPr>
          <a:xfrm>
            <a:off x="3858768" y="5102352"/>
            <a:ext cx="4334256" cy="310896"/>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same sentiment shock matters more for firms with weaker financing capacity and more exposure to investor mood.</a:t>
            </a:r>
            <a:endParaRPr lang="en-US" sz="1200" dirty="0"/>
          </a:p>
        </p:txBody>
      </p:sp>
      <p:sp>
        <p:nvSpPr>
          <p:cNvPr id="17" name="Text 12"/>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7/10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8"/>
        </a:solidFill>
      </p:bgPr>
    </p:bg>
    <p:spTree>
      <p:nvGrpSpPr>
        <p:cNvPr id="1" name=""/>
        <p:cNvGrpSpPr/>
        <p:nvPr/>
      </p:nvGrpSpPr>
      <p:grpSpPr>
        <a:xfrm>
          <a:off x="0" y="0"/>
          <a:ext cx="0" cy="0"/>
          <a:chOff x="0" y="0"/>
          <a:chExt cx="0" cy="0"/>
        </a:xfrm>
      </p:grpSpPr>
      <p:sp>
        <p:nvSpPr>
          <p:cNvPr id="2" name="Text 0"/>
          <p:cNvSpPr/>
          <p:nvPr/>
        </p:nvSpPr>
        <p:spPr>
          <a:xfrm>
            <a:off x="502920" y="365760"/>
            <a:ext cx="1920240" cy="310896"/>
          </a:xfrm>
          <a:prstGeom prst="roundRect">
            <a:avLst/>
          </a:prstGeom>
          <a:solidFill>
            <a:srgbClr val="E6F7F6"/>
          </a:solidFill>
          <a:ln>
            <a:solidFill>
              <a:srgbClr val="E6F7F6">
                <a:alpha val="0"/>
              </a:srgbClr>
            </a:solidFill>
          </a:ln>
        </p:spPr>
        <p:txBody>
          <a:bodyPr wrap="square" lIns="762" tIns="762" rIns="762" bIns="762" rtlCol="0" anchor="ctr"/>
          <a:lstStyle/>
          <a:p>
            <a:pPr algn="ctr" indent="0" marL="0">
              <a:buNone/>
            </a:pPr>
            <a:r>
              <a:rPr lang="en-US" sz="1100" b="1" dirty="0">
                <a:solidFill>
                  <a:srgbClr val="0C9DA5"/>
                </a:solidFill>
                <a:latin typeface="Calibri" pitchFamily="34" charset="0"/>
                <a:ea typeface="Calibri" pitchFamily="34" charset="-122"/>
                <a:cs typeface="Calibri" pitchFamily="34" charset="-120"/>
              </a:rPr>
              <a:t>Checks and caveats</a:t>
            </a:r>
            <a:endParaRPr lang="en-US" sz="1100" dirty="0"/>
          </a:p>
        </p:txBody>
      </p:sp>
      <p:sp>
        <p:nvSpPr>
          <p:cNvPr id="3" name="Text 1"/>
          <p:cNvSpPr/>
          <p:nvPr/>
        </p:nvSpPr>
        <p:spPr>
          <a:xfrm>
            <a:off x="502920" y="749808"/>
            <a:ext cx="7863840" cy="640080"/>
          </a:xfrm>
          <a:prstGeom prst="rect">
            <a:avLst/>
          </a:prstGeom>
          <a:noFill/>
          <a:ln/>
        </p:spPr>
        <p:txBody>
          <a:bodyPr wrap="square" lIns="0" tIns="0" rIns="0" bIns="0" rtlCol="0" anchor="ctr"/>
          <a:lstStyle/>
          <a:p>
            <a:pPr indent="0" marL="0">
              <a:buNone/>
            </a:pPr>
            <a:r>
              <a:rPr lang="en-US" sz="2400" b="1" dirty="0">
                <a:solidFill>
                  <a:srgbClr val="0F2747"/>
                </a:solidFill>
                <a:latin typeface="Georgia" pitchFamily="34" charset="0"/>
                <a:ea typeface="Georgia" pitchFamily="34" charset="-122"/>
                <a:cs typeface="Georgia" pitchFamily="34" charset="-120"/>
              </a:rPr>
              <a:t>Diagnostics: the stronger story is robustness, not overclaiming</a:t>
            </a:r>
            <a:endParaRPr lang="en-US" sz="2400" dirty="0"/>
          </a:p>
        </p:txBody>
      </p:sp>
      <p:sp>
        <p:nvSpPr>
          <p:cNvPr id="4" name="Shape 2"/>
          <p:cNvSpPr/>
          <p:nvPr/>
        </p:nvSpPr>
        <p:spPr>
          <a:xfrm>
            <a:off x="502920" y="1389888"/>
            <a:ext cx="8229600" cy="0"/>
          </a:xfrm>
          <a:prstGeom prst="line">
            <a:avLst/>
          </a:prstGeom>
          <a:noFill/>
          <a:ln w="15240">
            <a:solidFill>
              <a:srgbClr val="0C9DA5">
                <a:alpha val="75000"/>
              </a:srgbClr>
            </a:solidFill>
            <a:prstDash val="solid"/>
          </a:ln>
        </p:spPr>
      </p:sp>
      <p:pic>
        <p:nvPicPr>
          <p:cNvPr id="5" name="Image 0" descr="/workspaces/qm2023-capstone-2nd-row-team/results/figures/m3v2_residuals_vs_fitted.png">    </p:cNvPr>
          <p:cNvPicPr>
            <a:picLocks noChangeAspect="1"/>
          </p:cNvPicPr>
          <p:nvPr/>
        </p:nvPicPr>
        <p:blipFill>
          <a:blip r:embed="rId1"/>
          <a:srcRect l="0" r="0" t="0" b="0"/>
          <a:stretch/>
        </p:blipFill>
        <p:spPr>
          <a:xfrm>
            <a:off x="502920" y="1737360"/>
            <a:ext cx="3703320" cy="2697480"/>
          </a:xfrm>
          <a:prstGeom prst="rect">
            <a:avLst/>
          </a:prstGeom>
        </p:spPr>
      </p:pic>
      <p:pic>
        <p:nvPicPr>
          <p:cNvPr id="6" name="Image 1" descr="/workspaces/qm2023-capstone-2nd-row-team/results/figures/m3v2_coefficient_comparison.png">    </p:cNvPr>
          <p:cNvPicPr>
            <a:picLocks noChangeAspect="1"/>
          </p:cNvPicPr>
          <p:nvPr/>
        </p:nvPicPr>
        <p:blipFill>
          <a:blip r:embed="rId2"/>
          <a:srcRect l="0" r="0" t="0" b="0"/>
          <a:stretch/>
        </p:blipFill>
        <p:spPr>
          <a:xfrm>
            <a:off x="4462272" y="1737360"/>
            <a:ext cx="4160520" cy="2697480"/>
          </a:xfrm>
          <a:prstGeom prst="rect">
            <a:avLst/>
          </a:prstGeom>
        </p:spPr>
      </p:pic>
      <p:sp>
        <p:nvSpPr>
          <p:cNvPr id="7" name="Shape 3"/>
          <p:cNvSpPr/>
          <p:nvPr/>
        </p:nvSpPr>
        <p:spPr>
          <a:xfrm>
            <a:off x="594360" y="4626864"/>
            <a:ext cx="1920240" cy="786384"/>
          </a:xfrm>
          <a:prstGeom prst="roundRect">
            <a:avLst>
              <a:gd name="adj" fmla="val 9302"/>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8" name="Text 4"/>
          <p:cNvSpPr/>
          <p:nvPr/>
        </p:nvSpPr>
        <p:spPr>
          <a:xfrm>
            <a:off x="758952" y="4754880"/>
            <a:ext cx="159105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Breusch-Pagan</a:t>
            </a:r>
            <a:endParaRPr lang="en-US" sz="1500" dirty="0"/>
          </a:p>
        </p:txBody>
      </p:sp>
      <p:sp>
        <p:nvSpPr>
          <p:cNvPr id="9" name="Text 5"/>
          <p:cNvSpPr/>
          <p:nvPr/>
        </p:nvSpPr>
        <p:spPr>
          <a:xfrm>
            <a:off x="758952" y="5047488"/>
            <a:ext cx="1591056" cy="256032"/>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p = 0.8943</a:t>
            </a:r>
            <a:endParaRPr lang="en-US" sz="1200" dirty="0"/>
          </a:p>
        </p:txBody>
      </p:sp>
      <p:sp>
        <p:nvSpPr>
          <p:cNvPr id="10" name="Shape 6"/>
          <p:cNvSpPr/>
          <p:nvPr/>
        </p:nvSpPr>
        <p:spPr>
          <a:xfrm>
            <a:off x="2651760" y="4626864"/>
            <a:ext cx="1828800" cy="786384"/>
          </a:xfrm>
          <a:prstGeom prst="roundRect">
            <a:avLst>
              <a:gd name="adj" fmla="val 9302"/>
            </a:avLst>
          </a:prstGeom>
          <a:solidFill>
            <a:srgbClr val="EAF2F8"/>
          </a:solidFill>
          <a:ln w="12700">
            <a:solidFill>
              <a:srgbClr val="EAF2F8">
                <a:alpha val="0"/>
              </a:srgbClr>
            </a:solidFill>
            <a:prstDash val="solid"/>
          </a:ln>
          <a:effectLst>
            <a:outerShdw sx="100000" sy="100000" kx="0" ky="0" algn="bl" rotWithShape="0" blurRad="25400" dist="12700" dir="2700000">
              <a:srgbClr val="000000">
                <a:alpha val="12000"/>
              </a:srgbClr>
            </a:outerShdw>
          </a:effectLst>
        </p:spPr>
      </p:sp>
      <p:sp>
        <p:nvSpPr>
          <p:cNvPr id="11" name="Text 7"/>
          <p:cNvSpPr/>
          <p:nvPr/>
        </p:nvSpPr>
        <p:spPr>
          <a:xfrm>
            <a:off x="2816352" y="4754880"/>
            <a:ext cx="149961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Max VIF</a:t>
            </a:r>
            <a:endParaRPr lang="en-US" sz="1500" dirty="0"/>
          </a:p>
        </p:txBody>
      </p:sp>
      <p:sp>
        <p:nvSpPr>
          <p:cNvPr id="12" name="Text 8"/>
          <p:cNvSpPr/>
          <p:nvPr/>
        </p:nvSpPr>
        <p:spPr>
          <a:xfrm>
            <a:off x="2816352" y="5047488"/>
            <a:ext cx="1499616" cy="256032"/>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1.31</a:t>
            </a:r>
            <a:endParaRPr lang="en-US" sz="1200" dirty="0"/>
          </a:p>
        </p:txBody>
      </p:sp>
      <p:sp>
        <p:nvSpPr>
          <p:cNvPr id="13" name="Shape 9"/>
          <p:cNvSpPr/>
          <p:nvPr/>
        </p:nvSpPr>
        <p:spPr>
          <a:xfrm>
            <a:off x="4617720" y="4626864"/>
            <a:ext cx="1965960" cy="786384"/>
          </a:xfrm>
          <a:prstGeom prst="roundRect">
            <a:avLst>
              <a:gd name="adj" fmla="val 9302"/>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4" name="Text 10"/>
          <p:cNvSpPr/>
          <p:nvPr/>
        </p:nvSpPr>
        <p:spPr>
          <a:xfrm>
            <a:off x="4782312" y="4754880"/>
            <a:ext cx="163677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Placebo check</a:t>
            </a:r>
            <a:endParaRPr lang="en-US" sz="1500" dirty="0"/>
          </a:p>
        </p:txBody>
      </p:sp>
      <p:sp>
        <p:nvSpPr>
          <p:cNvPr id="15" name="Text 11"/>
          <p:cNvSpPr/>
          <p:nvPr/>
        </p:nvSpPr>
        <p:spPr>
          <a:xfrm>
            <a:off x="4782312" y="5047488"/>
            <a:ext cx="1636776" cy="256032"/>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Weak pre-trend signal</a:t>
            </a:r>
            <a:endParaRPr lang="en-US" sz="1200" dirty="0"/>
          </a:p>
        </p:txBody>
      </p:sp>
      <p:sp>
        <p:nvSpPr>
          <p:cNvPr id="16" name="Shape 12"/>
          <p:cNvSpPr/>
          <p:nvPr/>
        </p:nvSpPr>
        <p:spPr>
          <a:xfrm>
            <a:off x="6748272" y="4626864"/>
            <a:ext cx="1810512" cy="786384"/>
          </a:xfrm>
          <a:prstGeom prst="roundRect">
            <a:avLst>
              <a:gd name="adj" fmla="val 9302"/>
            </a:avLst>
          </a:prstGeom>
          <a:solidFill>
            <a:srgbClr val="FFFFFF"/>
          </a:solidFill>
          <a:ln w="12700">
            <a:solidFill>
              <a:srgbClr val="D7DDE4">
                <a:alpha val="0"/>
              </a:srgbClr>
            </a:solidFill>
            <a:prstDash val="solid"/>
          </a:ln>
          <a:effectLst>
            <a:outerShdw sx="100000" sy="100000" kx="0" ky="0" algn="bl" rotWithShape="0" blurRad="25400" dist="12700" dir="2700000">
              <a:srgbClr val="000000">
                <a:alpha val="12000"/>
              </a:srgbClr>
            </a:outerShdw>
          </a:effectLst>
        </p:spPr>
      </p:sp>
      <p:sp>
        <p:nvSpPr>
          <p:cNvPr id="17" name="Text 13"/>
          <p:cNvSpPr/>
          <p:nvPr/>
        </p:nvSpPr>
        <p:spPr>
          <a:xfrm>
            <a:off x="6912864" y="4754880"/>
            <a:ext cx="1481328"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Bottom line</a:t>
            </a:r>
            <a:endParaRPr lang="en-US" sz="1500" dirty="0"/>
          </a:p>
        </p:txBody>
      </p:sp>
      <p:sp>
        <p:nvSpPr>
          <p:cNvPr id="18" name="Text 14"/>
          <p:cNvSpPr/>
          <p:nvPr/>
        </p:nvSpPr>
        <p:spPr>
          <a:xfrm>
            <a:off x="6912864" y="5047488"/>
            <a:ext cx="1481328" cy="256032"/>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No severe collinearity or heteroskedasticity red flags, but the aggregate alpha story stays weak.</a:t>
            </a:r>
            <a:endParaRPr lang="en-US" sz="1200" dirty="0"/>
          </a:p>
        </p:txBody>
      </p:sp>
      <p:sp>
        <p:nvSpPr>
          <p:cNvPr id="20" name="Text 15"/>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6C7A89"/>
                </a:solidFill>
                <a:latin typeface="Calibri" pitchFamily="34" charset="0"/>
                <a:ea typeface="Calibri" pitchFamily="34" charset="-122"/>
                <a:cs typeface="Calibri" pitchFamily="34" charset="-120"/>
              </a:rPr>
              <a:t>2nd Row Team | 8/10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74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747"/>
          </a:solidFill>
          <a:ln w="12700">
            <a:solidFill>
              <a:srgbClr val="0F2747">
                <a:alpha val="0"/>
              </a:srgbClr>
            </a:solidFill>
            <a:prstDash val="solid"/>
          </a:ln>
        </p:spPr>
      </p:sp>
      <p:sp>
        <p:nvSpPr>
          <p:cNvPr id="3" name="Text 1"/>
          <p:cNvSpPr/>
          <p:nvPr/>
        </p:nvSpPr>
        <p:spPr>
          <a:xfrm>
            <a:off x="594360" y="594360"/>
            <a:ext cx="7223760" cy="64008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Recommendation: treat sentiment as a risk-budget overlay</a:t>
            </a:r>
            <a:endParaRPr lang="en-US" sz="2400" dirty="0"/>
          </a:p>
        </p:txBody>
      </p:sp>
      <p:sp>
        <p:nvSpPr>
          <p:cNvPr id="4" name="Text 2"/>
          <p:cNvSpPr/>
          <p:nvPr/>
        </p:nvSpPr>
        <p:spPr>
          <a:xfrm>
            <a:off x="621792" y="1234440"/>
            <a:ext cx="6309360" cy="274320"/>
          </a:xfrm>
          <a:prstGeom prst="rect">
            <a:avLst/>
          </a:prstGeom>
          <a:noFill/>
          <a:ln/>
        </p:spPr>
        <p:txBody>
          <a:bodyPr wrap="square" lIns="0" tIns="0" rIns="0" bIns="0" rtlCol="0" anchor="ctr"/>
          <a:lstStyle/>
          <a:p>
            <a:pPr indent="0" marL="0">
              <a:buNone/>
            </a:pPr>
            <a:r>
              <a:rPr lang="en-US" sz="1300" dirty="0">
                <a:solidFill>
                  <a:srgbClr val="D7E3F0"/>
                </a:solidFill>
                <a:latin typeface="Calibri" pitchFamily="34" charset="0"/>
                <a:ea typeface="Calibri" pitchFamily="34" charset="-122"/>
                <a:cs typeface="Calibri" pitchFamily="34" charset="-120"/>
              </a:rPr>
              <a:t>Use it to adjust exposure, not to predict the next monthly return.</a:t>
            </a:r>
            <a:endParaRPr lang="en-US" sz="1300" dirty="0"/>
          </a:p>
        </p:txBody>
      </p:sp>
      <p:sp>
        <p:nvSpPr>
          <p:cNvPr id="5" name="Shape 3"/>
          <p:cNvSpPr/>
          <p:nvPr/>
        </p:nvSpPr>
        <p:spPr>
          <a:xfrm>
            <a:off x="640080" y="1874520"/>
            <a:ext cx="2606040" cy="1783080"/>
          </a:xfrm>
          <a:prstGeom prst="roundRect">
            <a:avLst>
              <a:gd name="adj" fmla="val 4103"/>
            </a:avLst>
          </a:prstGeom>
          <a:solidFill>
            <a:srgbClr val="FFFFFF"/>
          </a:solidFill>
          <a:ln w="12700">
            <a:solidFill>
              <a:srgbClr val="FFFFFF">
                <a:alpha val="0"/>
              </a:srgbClr>
            </a:solidFill>
            <a:prstDash val="solid"/>
          </a:ln>
          <a:effectLst>
            <a:outerShdw sx="100000" sy="100000" kx="0" ky="0" algn="bl" rotWithShape="0" blurRad="25400" dist="12700" dir="2700000">
              <a:srgbClr val="000000">
                <a:alpha val="20000"/>
              </a:srgbClr>
            </a:outerShdw>
          </a:effectLst>
        </p:spPr>
      </p:sp>
      <p:sp>
        <p:nvSpPr>
          <p:cNvPr id="6" name="Text 4"/>
          <p:cNvSpPr/>
          <p:nvPr/>
        </p:nvSpPr>
        <p:spPr>
          <a:xfrm>
            <a:off x="804672" y="2002536"/>
            <a:ext cx="227685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If sentiment improves after a shock</a:t>
            </a:r>
            <a:endParaRPr lang="en-US" sz="1500" dirty="0"/>
          </a:p>
        </p:txBody>
      </p:sp>
      <p:sp>
        <p:nvSpPr>
          <p:cNvPr id="7" name="Text 5"/>
          <p:cNvSpPr/>
          <p:nvPr/>
        </p:nvSpPr>
        <p:spPr>
          <a:xfrm>
            <a:off x="804672" y="2295144"/>
            <a:ext cx="2276856" cy="12527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Tilt modestly toward smaller, more sentiment-sensitive firms. That is where the panel model says the exposure is strongest.</a:t>
            </a:r>
            <a:endParaRPr lang="en-US" sz="1200" dirty="0"/>
          </a:p>
        </p:txBody>
      </p:sp>
      <p:sp>
        <p:nvSpPr>
          <p:cNvPr id="8" name="Shape 6"/>
          <p:cNvSpPr/>
          <p:nvPr/>
        </p:nvSpPr>
        <p:spPr>
          <a:xfrm>
            <a:off x="3264408" y="1874520"/>
            <a:ext cx="2606040" cy="1783080"/>
          </a:xfrm>
          <a:prstGeom prst="roundRect">
            <a:avLst>
              <a:gd name="adj" fmla="val 4103"/>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20000"/>
              </a:srgbClr>
            </a:outerShdw>
          </a:effectLst>
        </p:spPr>
      </p:sp>
      <p:sp>
        <p:nvSpPr>
          <p:cNvPr id="9" name="Text 7"/>
          <p:cNvSpPr/>
          <p:nvPr/>
        </p:nvSpPr>
        <p:spPr>
          <a:xfrm>
            <a:off x="3429000" y="2002536"/>
            <a:ext cx="227685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If sentiment weakens in stress</a:t>
            </a:r>
            <a:endParaRPr lang="en-US" sz="1500" dirty="0"/>
          </a:p>
        </p:txBody>
      </p:sp>
      <p:sp>
        <p:nvSpPr>
          <p:cNvPr id="10" name="Text 8"/>
          <p:cNvSpPr/>
          <p:nvPr/>
        </p:nvSpPr>
        <p:spPr>
          <a:xfrm>
            <a:off x="3429000" y="2295144"/>
            <a:ext cx="2276856" cy="12527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Reduce exposure to the most financing-sensitive names and keep the core book diversified.</a:t>
            </a:r>
            <a:endParaRPr lang="en-US" sz="1200" dirty="0"/>
          </a:p>
        </p:txBody>
      </p:sp>
      <p:sp>
        <p:nvSpPr>
          <p:cNvPr id="11" name="Shape 9"/>
          <p:cNvSpPr/>
          <p:nvPr/>
        </p:nvSpPr>
        <p:spPr>
          <a:xfrm>
            <a:off x="5888736" y="1874520"/>
            <a:ext cx="2606040" cy="1783080"/>
          </a:xfrm>
          <a:prstGeom prst="roundRect">
            <a:avLst>
              <a:gd name="adj" fmla="val 4103"/>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20000"/>
              </a:srgbClr>
            </a:outerShdw>
          </a:effectLst>
        </p:spPr>
      </p:sp>
      <p:sp>
        <p:nvSpPr>
          <p:cNvPr id="12" name="Text 10"/>
          <p:cNvSpPr/>
          <p:nvPr/>
        </p:nvSpPr>
        <p:spPr>
          <a:xfrm>
            <a:off x="6053328" y="2002536"/>
            <a:ext cx="227685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If the committee wants a hedge</a:t>
            </a:r>
            <a:endParaRPr lang="en-US" sz="1500" dirty="0"/>
          </a:p>
        </p:txBody>
      </p:sp>
      <p:sp>
        <p:nvSpPr>
          <p:cNvPr id="13" name="Text 11"/>
          <p:cNvSpPr/>
          <p:nvPr/>
        </p:nvSpPr>
        <p:spPr>
          <a:xfrm>
            <a:off x="6053328" y="2295144"/>
            <a:ext cx="2276856" cy="125272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Use quality or lower leverage tilts. Sentiment itself should not be carrying all the forecasting weight.</a:t>
            </a:r>
            <a:endParaRPr lang="en-US" sz="1200" dirty="0"/>
          </a:p>
        </p:txBody>
      </p:sp>
      <p:sp>
        <p:nvSpPr>
          <p:cNvPr id="14" name="Shape 12"/>
          <p:cNvSpPr/>
          <p:nvPr/>
        </p:nvSpPr>
        <p:spPr>
          <a:xfrm>
            <a:off x="3931920" y="4160520"/>
            <a:ext cx="1280160" cy="411480"/>
          </a:xfrm>
          <a:prstGeom prst="chevron">
            <a:avLst/>
          </a:prstGeom>
          <a:solidFill>
            <a:srgbClr val="0C9DA5"/>
          </a:solidFill>
          <a:ln w="12700">
            <a:solidFill>
              <a:srgbClr val="0C9DA5">
                <a:alpha val="0"/>
              </a:srgbClr>
            </a:solidFill>
            <a:prstDash val="solid"/>
          </a:ln>
        </p:spPr>
      </p:sp>
      <p:sp>
        <p:nvSpPr>
          <p:cNvPr id="15" name="Text 13"/>
          <p:cNvSpPr/>
          <p:nvPr/>
        </p:nvSpPr>
        <p:spPr>
          <a:xfrm>
            <a:off x="3017520" y="4206240"/>
            <a:ext cx="3108960" cy="182880"/>
          </a:xfrm>
          <a:prstGeom prst="rect">
            <a:avLst/>
          </a:prstGeom>
          <a:noFill/>
          <a:ln/>
        </p:spPr>
        <p:txBody>
          <a:bodyPr wrap="square" lIns="0" tIns="0" rIns="0" bIns="0" rtlCol="0" anchor="ctr"/>
          <a:lstStyle/>
          <a:p>
            <a:pPr algn="ctr" indent="0" marL="0">
              <a:buNone/>
            </a:pPr>
            <a:r>
              <a:rPr lang="en-US" sz="1100" b="1" dirty="0">
                <a:solidFill>
                  <a:srgbClr val="D7E3F0"/>
                </a:solidFill>
                <a:latin typeface="Calibri" pitchFamily="34" charset="0"/>
                <a:ea typeface="Calibri" pitchFamily="34" charset="-122"/>
                <a:cs typeface="Calibri" pitchFamily="34" charset="-120"/>
              </a:rPr>
              <a:t>Regime shift → allocation tilt</a:t>
            </a:r>
            <a:endParaRPr lang="en-US" sz="1100" dirty="0"/>
          </a:p>
        </p:txBody>
      </p:sp>
      <p:sp>
        <p:nvSpPr>
          <p:cNvPr id="17" name="Text 14"/>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DDE7F2"/>
                </a:solidFill>
                <a:latin typeface="Calibri" pitchFamily="34" charset="0"/>
                <a:ea typeface="Calibri" pitchFamily="34" charset="-122"/>
                <a:cs typeface="Calibri" pitchFamily="34" charset="-120"/>
              </a:rPr>
              <a:t>2nd Row Team | 9/10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74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747"/>
          </a:solidFill>
          <a:ln w="12700">
            <a:solidFill>
              <a:srgbClr val="0F2747">
                <a:alpha val="0"/>
              </a:srgbClr>
            </a:solidFill>
            <a:prstDash val="solid"/>
          </a:ln>
        </p:spPr>
      </p:sp>
      <p:sp>
        <p:nvSpPr>
          <p:cNvPr id="3" name="Shape 1"/>
          <p:cNvSpPr/>
          <p:nvPr/>
        </p:nvSpPr>
        <p:spPr>
          <a:xfrm>
            <a:off x="7269480" y="411480"/>
            <a:ext cx="1417320" cy="1417320"/>
          </a:xfrm>
          <a:prstGeom prst="ellipse">
            <a:avLst/>
          </a:prstGeom>
          <a:solidFill>
            <a:srgbClr val="0C9DA5">
              <a:alpha val="32000"/>
            </a:srgbClr>
          </a:solidFill>
          <a:ln w="12700">
            <a:solidFill>
              <a:srgbClr val="0C9DA5">
                <a:alpha val="0"/>
              </a:srgbClr>
            </a:solidFill>
            <a:prstDash val="solid"/>
          </a:ln>
        </p:spPr>
      </p:sp>
      <p:sp>
        <p:nvSpPr>
          <p:cNvPr id="4" name="Shape 2"/>
          <p:cNvSpPr/>
          <p:nvPr/>
        </p:nvSpPr>
        <p:spPr>
          <a:xfrm>
            <a:off x="6355080" y="1143000"/>
            <a:ext cx="914400" cy="914400"/>
          </a:xfrm>
          <a:prstGeom prst="ellipse">
            <a:avLst/>
          </a:prstGeom>
          <a:solidFill>
            <a:srgbClr val="BFE9E4">
              <a:alpha val="22000"/>
            </a:srgbClr>
          </a:solidFill>
          <a:ln w="12700">
            <a:solidFill>
              <a:srgbClr val="BFE9E4">
                <a:alpha val="0"/>
              </a:srgbClr>
            </a:solidFill>
            <a:prstDash val="solid"/>
          </a:ln>
        </p:spPr>
      </p:sp>
      <p:sp>
        <p:nvSpPr>
          <p:cNvPr id="5" name="Text 3"/>
          <p:cNvSpPr/>
          <p:nvPr/>
        </p:nvSpPr>
        <p:spPr>
          <a:xfrm>
            <a:off x="640080" y="685800"/>
            <a:ext cx="1828800" cy="365760"/>
          </a:xfrm>
          <a:prstGeom prst="rect">
            <a:avLst/>
          </a:prstGeom>
          <a:noFill/>
          <a:ln/>
        </p:spPr>
        <p:txBody>
          <a:bodyPr wrap="square" lIns="0" tIns="0" rIns="0" bIns="0" rtlCol="0" anchor="ctr"/>
          <a:lstStyle/>
          <a:p>
            <a:pPr indent="0" marL="0">
              <a:buNone/>
            </a:pPr>
            <a:r>
              <a:rPr lang="en-US" sz="1200" b="1" dirty="0">
                <a:solidFill>
                  <a:srgbClr val="D7E3F0"/>
                </a:solidFill>
                <a:latin typeface="Calibri" pitchFamily="34" charset="0"/>
                <a:ea typeface="Calibri" pitchFamily="34" charset="-122"/>
                <a:cs typeface="Calibri" pitchFamily="34" charset="-120"/>
              </a:rPr>
              <a:t>Bottom line</a:t>
            </a:r>
            <a:endParaRPr lang="en-US" sz="1200" dirty="0"/>
          </a:p>
        </p:txBody>
      </p:sp>
      <p:sp>
        <p:nvSpPr>
          <p:cNvPr id="6" name="Text 4"/>
          <p:cNvSpPr/>
          <p:nvPr/>
        </p:nvSpPr>
        <p:spPr>
          <a:xfrm>
            <a:off x="640080" y="1143000"/>
            <a:ext cx="6766560" cy="914400"/>
          </a:xfrm>
          <a:prstGeom prst="rect">
            <a:avLst/>
          </a:prstGeom>
          <a:noFill/>
          <a:ln/>
        </p:spPr>
        <p:txBody>
          <a:bodyPr wrap="square" lIns="0" tIns="0" rIns="0" bIns="0"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Sentiment is a regime signal, not a magic timing machine.</a:t>
            </a:r>
            <a:endParaRPr lang="en-US" sz="2500" dirty="0"/>
          </a:p>
        </p:txBody>
      </p:sp>
      <p:sp>
        <p:nvSpPr>
          <p:cNvPr id="7" name="Text 5"/>
          <p:cNvSpPr/>
          <p:nvPr/>
        </p:nvSpPr>
        <p:spPr>
          <a:xfrm>
            <a:off x="658368" y="2148840"/>
            <a:ext cx="6035040" cy="274320"/>
          </a:xfrm>
          <a:prstGeom prst="rect">
            <a:avLst/>
          </a:prstGeom>
          <a:noFill/>
          <a:ln/>
        </p:spPr>
        <p:txBody>
          <a:bodyPr wrap="square" lIns="0" tIns="0" rIns="0" bIns="0" rtlCol="0" anchor="ctr"/>
          <a:lstStyle/>
          <a:p>
            <a:pPr indent="0" marL="0">
              <a:buNone/>
            </a:pPr>
            <a:r>
              <a:rPr lang="en-US" sz="1300" dirty="0">
                <a:solidFill>
                  <a:srgbClr val="D7E3F0"/>
                </a:solidFill>
                <a:latin typeface="Calibri" pitchFamily="34" charset="0"/>
                <a:ea typeface="Calibri" pitchFamily="34" charset="-122"/>
                <a:cs typeface="Calibri" pitchFamily="34" charset="-120"/>
              </a:rPr>
              <a:t>That is the most honest and most useful conclusion for an investment committee.</a:t>
            </a:r>
            <a:endParaRPr lang="en-US" sz="1300" dirty="0"/>
          </a:p>
        </p:txBody>
      </p:sp>
      <p:sp>
        <p:nvSpPr>
          <p:cNvPr id="8" name="Shape 6"/>
          <p:cNvSpPr/>
          <p:nvPr/>
        </p:nvSpPr>
        <p:spPr>
          <a:xfrm>
            <a:off x="658368" y="2834640"/>
            <a:ext cx="2560320" cy="1143000"/>
          </a:xfrm>
          <a:prstGeom prst="roundRect">
            <a:avLst>
              <a:gd name="adj" fmla="val 6400"/>
            </a:avLst>
          </a:prstGeom>
          <a:solidFill>
            <a:srgbClr val="FFFFFF"/>
          </a:solidFill>
          <a:ln w="12700">
            <a:solidFill>
              <a:srgbClr val="FFFFFF">
                <a:alpha val="0"/>
              </a:srgbClr>
            </a:solidFill>
            <a:prstDash val="solid"/>
          </a:ln>
          <a:effectLst>
            <a:outerShdw sx="100000" sy="100000" kx="0" ky="0" algn="bl" rotWithShape="0" blurRad="25400" dist="12700" dir="2700000">
              <a:srgbClr val="000000">
                <a:alpha val="12000"/>
              </a:srgbClr>
            </a:outerShdw>
          </a:effectLst>
        </p:spPr>
      </p:sp>
      <p:sp>
        <p:nvSpPr>
          <p:cNvPr id="9" name="Text 7"/>
          <p:cNvSpPr/>
          <p:nvPr/>
        </p:nvSpPr>
        <p:spPr>
          <a:xfrm>
            <a:off x="822960" y="2962656"/>
            <a:ext cx="223113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What to defend</a:t>
            </a:r>
            <a:endParaRPr lang="en-US" sz="1500" dirty="0"/>
          </a:p>
        </p:txBody>
      </p:sp>
      <p:sp>
        <p:nvSpPr>
          <p:cNvPr id="10" name="Text 8"/>
          <p:cNvSpPr/>
          <p:nvPr/>
        </p:nvSpPr>
        <p:spPr>
          <a:xfrm>
            <a:off x="822960" y="3255264"/>
            <a:ext cx="2231136" cy="6126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Clean data, weak broad-market alpha, stronger small-firm exposure, and a cautious investment recommendation.</a:t>
            </a:r>
            <a:endParaRPr lang="en-US" sz="1200" dirty="0"/>
          </a:p>
        </p:txBody>
      </p:sp>
      <p:sp>
        <p:nvSpPr>
          <p:cNvPr id="11" name="Shape 9"/>
          <p:cNvSpPr/>
          <p:nvPr/>
        </p:nvSpPr>
        <p:spPr>
          <a:xfrm>
            <a:off x="3410712" y="2834640"/>
            <a:ext cx="2560320" cy="1143000"/>
          </a:xfrm>
          <a:prstGeom prst="roundRect">
            <a:avLst>
              <a:gd name="adj" fmla="val 6400"/>
            </a:avLst>
          </a:prstGeom>
          <a:solidFill>
            <a:srgbClr val="E6F7F6"/>
          </a:solidFill>
          <a:ln w="12700">
            <a:solidFill>
              <a:srgbClr val="E6F7F6">
                <a:alpha val="0"/>
              </a:srgbClr>
            </a:solidFill>
            <a:prstDash val="solid"/>
          </a:ln>
          <a:effectLst>
            <a:outerShdw sx="100000" sy="100000" kx="0" ky="0" algn="bl" rotWithShape="0" blurRad="25400" dist="12700" dir="2700000">
              <a:srgbClr val="000000">
                <a:alpha val="12000"/>
              </a:srgbClr>
            </a:outerShdw>
          </a:effectLst>
        </p:spPr>
      </p:sp>
      <p:sp>
        <p:nvSpPr>
          <p:cNvPr id="12" name="Text 10"/>
          <p:cNvSpPr/>
          <p:nvPr/>
        </p:nvSpPr>
        <p:spPr>
          <a:xfrm>
            <a:off x="3575304" y="2962656"/>
            <a:ext cx="223113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What to customize</a:t>
            </a:r>
            <a:endParaRPr lang="en-US" sz="1500" dirty="0"/>
          </a:p>
        </p:txBody>
      </p:sp>
      <p:sp>
        <p:nvSpPr>
          <p:cNvPr id="13" name="Text 11"/>
          <p:cNvSpPr/>
          <p:nvPr/>
        </p:nvSpPr>
        <p:spPr>
          <a:xfrm>
            <a:off x="3575304" y="3255264"/>
            <a:ext cx="2231136" cy="6126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Insert your final names, any course-specific wording, and any additional academic citations before export.</a:t>
            </a:r>
            <a:endParaRPr lang="en-US" sz="1200" dirty="0"/>
          </a:p>
        </p:txBody>
      </p:sp>
      <p:sp>
        <p:nvSpPr>
          <p:cNvPr id="14" name="Shape 12"/>
          <p:cNvSpPr/>
          <p:nvPr/>
        </p:nvSpPr>
        <p:spPr>
          <a:xfrm>
            <a:off x="6163056" y="2834640"/>
            <a:ext cx="2331720" cy="1143000"/>
          </a:xfrm>
          <a:prstGeom prst="roundRect">
            <a:avLst>
              <a:gd name="adj" fmla="val 6400"/>
            </a:avLst>
          </a:prstGeom>
          <a:solidFill>
            <a:srgbClr val="FFF3D6"/>
          </a:solidFill>
          <a:ln w="12700">
            <a:solidFill>
              <a:srgbClr val="FFF3D6">
                <a:alpha val="0"/>
              </a:srgbClr>
            </a:solidFill>
            <a:prstDash val="solid"/>
          </a:ln>
          <a:effectLst>
            <a:outerShdw sx="100000" sy="100000" kx="0" ky="0" algn="bl" rotWithShape="0" blurRad="25400" dist="12700" dir="2700000">
              <a:srgbClr val="000000">
                <a:alpha val="12000"/>
              </a:srgbClr>
            </a:outerShdw>
          </a:effectLst>
        </p:spPr>
      </p:sp>
      <p:sp>
        <p:nvSpPr>
          <p:cNvPr id="15" name="Text 13"/>
          <p:cNvSpPr/>
          <p:nvPr/>
        </p:nvSpPr>
        <p:spPr>
          <a:xfrm>
            <a:off x="6327648" y="2962656"/>
            <a:ext cx="2002536" cy="256032"/>
          </a:xfrm>
          <a:prstGeom prst="rect">
            <a:avLst/>
          </a:prstGeom>
          <a:noFill/>
          <a:ln/>
        </p:spPr>
        <p:txBody>
          <a:bodyPr wrap="square" lIns="0" tIns="0" rIns="0" bIns="0" rtlCol="0" anchor="ctr"/>
          <a:lstStyle/>
          <a:p>
            <a:pPr indent="0" marL="0">
              <a:buNone/>
            </a:pPr>
            <a:r>
              <a:rPr lang="en-US" sz="1500" b="1" dirty="0">
                <a:solidFill>
                  <a:srgbClr val="0F2747"/>
                </a:solidFill>
                <a:latin typeface="Georgia" pitchFamily="34" charset="0"/>
                <a:ea typeface="Georgia" pitchFamily="34" charset="-122"/>
                <a:cs typeface="Georgia" pitchFamily="34" charset="-120"/>
              </a:rPr>
              <a:t>What to say if asked</a:t>
            </a:r>
            <a:endParaRPr lang="en-US" sz="1500" dirty="0"/>
          </a:p>
        </p:txBody>
      </p:sp>
      <p:sp>
        <p:nvSpPr>
          <p:cNvPr id="16" name="Text 14"/>
          <p:cNvSpPr/>
          <p:nvPr/>
        </p:nvSpPr>
        <p:spPr>
          <a:xfrm>
            <a:off x="6327648" y="3255264"/>
            <a:ext cx="2002536" cy="612648"/>
          </a:xfrm>
          <a:prstGeom prst="rect">
            <a:avLst/>
          </a:prstGeom>
          <a:noFill/>
          <a:ln/>
        </p:spPr>
        <p:txBody>
          <a:bodyPr wrap="square" lIns="0" tIns="0" rIns="0" bIns="0" rtlCol="0" anchor="t"/>
          <a:lstStyle/>
          <a:p>
            <a:pPr indent="0" marL="0">
              <a:buNone/>
            </a:pPr>
            <a:r>
              <a:rPr lang="en-US" sz="1200" dirty="0">
                <a:solidFill>
                  <a:srgbClr val="243447"/>
                </a:solidFill>
                <a:latin typeface="Calibri" pitchFamily="34" charset="0"/>
                <a:ea typeface="Calibri" pitchFamily="34" charset="-122"/>
                <a:cs typeface="Calibri" pitchFamily="34" charset="-120"/>
              </a:rPr>
              <a:t>The model is strongest as a risk-management overlay, not as a pure return predictor.</a:t>
            </a:r>
            <a:endParaRPr lang="en-US" sz="1200" dirty="0"/>
          </a:p>
        </p:txBody>
      </p:sp>
      <p:sp>
        <p:nvSpPr>
          <p:cNvPr id="17" name="Text 15"/>
          <p:cNvSpPr/>
          <p:nvPr/>
        </p:nvSpPr>
        <p:spPr>
          <a:xfrm>
            <a:off x="658368" y="4572000"/>
            <a:ext cx="1828800" cy="228600"/>
          </a:xfrm>
          <a:prstGeom prst="rect">
            <a:avLst/>
          </a:prstGeom>
          <a:noFill/>
          <a:ln/>
        </p:spPr>
        <p:txBody>
          <a:bodyPr wrap="square" lIns="0" tIns="0" rIns="0" bIns="0" rtlCol="0" anchor="ctr"/>
          <a:lstStyle/>
          <a:p>
            <a:pPr indent="0" marL="0">
              <a:buNone/>
            </a:pPr>
            <a:r>
              <a:rPr lang="en-US" sz="1800" b="1" dirty="0">
                <a:solidFill>
                  <a:srgbClr val="BFE9E4"/>
                </a:solidFill>
                <a:latin typeface="Georgia" pitchFamily="34" charset="0"/>
                <a:ea typeface="Georgia" pitchFamily="34" charset="-122"/>
                <a:cs typeface="Georgia" pitchFamily="34" charset="-120"/>
              </a:rPr>
              <a:t>Questions?</a:t>
            </a:r>
            <a:endParaRPr lang="en-US" sz="1800" dirty="0"/>
          </a:p>
        </p:txBody>
      </p:sp>
      <p:sp>
        <p:nvSpPr>
          <p:cNvPr id="19" name="Text 16"/>
          <p:cNvSpPr/>
          <p:nvPr/>
        </p:nvSpPr>
        <p:spPr>
          <a:xfrm>
            <a:off x="7635240" y="6446520"/>
            <a:ext cx="1234440" cy="164592"/>
          </a:xfrm>
          <a:prstGeom prst="rect">
            <a:avLst/>
          </a:prstGeom>
          <a:noFill/>
          <a:ln/>
        </p:spPr>
        <p:txBody>
          <a:bodyPr wrap="square" lIns="0" tIns="0" rIns="0" bIns="0" rtlCol="0" anchor="ctr"/>
          <a:lstStyle/>
          <a:p>
            <a:pPr algn="r" indent="0" marL="0">
              <a:buNone/>
            </a:pPr>
            <a:r>
              <a:rPr lang="en-US" sz="900" dirty="0">
                <a:solidFill>
                  <a:srgbClr val="DDE7F2"/>
                </a:solidFill>
                <a:latin typeface="Calibri" pitchFamily="34" charset="0"/>
                <a:ea typeface="Calibri" pitchFamily="34" charset="-122"/>
                <a:cs typeface="Calibri" pitchFamily="34" charset="-120"/>
              </a:rPr>
              <a:t>2nd Row Team | 10/10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QM 2023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and Investor Sentiment as a Timing Signal for U.S. Equity Returns</dc:title>
  <dc:subject>Final investment memo presentation</dc:subject>
  <dc:creator>2nd Row Team</dc:creator>
  <cp:lastModifiedBy>2nd Row Team</cp:lastModifiedBy>
  <cp:revision>1</cp:revision>
  <dcterms:created xsi:type="dcterms:W3CDTF">2026-04-29T22:01:02Z</dcterms:created>
  <dcterms:modified xsi:type="dcterms:W3CDTF">2026-04-29T22:01:02Z</dcterms:modified>
</cp:coreProperties>
</file>
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Open by framing the question simply: do consumer and investor sentiment help timing equity returns? Emphasize that this is a project story that starts with clean data, moves through exploratory evidence, and ends with a more nuanced investment recommendation. Do not lead with econometric jargon; lead with the decision context.</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 name="Google Shape;3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Use this slide as the non-technical headline. State that the project did not uncover a simple buy-sell rule for the whole market, but it did uncover a more economically interesting regime story. Mention that AAII positioning is closer to market moves than broad consumer confidence, and that the later firm-panel model strengthens the interpretation.</a:t>
            </a:r>
            <a:endParaRPr/>
          </a:p>
        </p:txBody>
      </p:sp>
      <p:sp>
        <p:nvSpPr>
          <p:cNvPr id="34" name="Google Shape;3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 name="Google Shape;5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Walk through the data pipeline. Explain that the M1 result matters because the later slides rely on a merged panel with no missing cells. Emphasize the month-end AAII aggregation choice as an economic decision, not just a coding choice. If someone asks why no outlier trimming, say the crisis episodes are exactly what investors need the model to understand.</a:t>
            </a:r>
            <a:endParaRPr/>
          </a:p>
        </p:txBody>
      </p:sp>
      <p:sp>
        <p:nvSpPr>
          <p:cNvPr id="54" name="Google Shape;54;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 name="Google Shape;7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slide should sound like the bridge between the clean data and the regression results. Point out that the EDA did not support a simple, linear, same-month timing rule. The useful takeaway is that AAII positioning is more immediate and that lagged sentiment relationships exist, but only weakly. That is why the later models used lags and regime checks.</a:t>
            </a:r>
            <a:endParaRPr/>
          </a:p>
        </p:txBody>
      </p:sp>
      <p:sp>
        <p:nvSpPr>
          <p:cNvPr id="77" name="Google Shape;7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Present this carefully: do not hide the fact that the aggregate M3 model was weak. Explain that the weak result is economically meaningful because it tells us sentiment is not a simple broad-market alpha signal. That shifts the investment use case from outright timing to regime and exposure management.</a:t>
            </a:r>
            <a:endParaRPr/>
          </a:p>
        </p:txBody>
      </p:sp>
      <p:sp>
        <p:nvSpPr>
          <p:cNvPr id="97" name="Google Shape;97;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Use the event study to connect the macro story to investor behavior. The point is not just that crashes were negative; it is that the abnormal-return pattern shows how sentiment and risk appetite matter most when the market has to reprice uncertainty quickly. Contrast the slower, deeper 2008 drawdown with the faster COVID shock and recovery.</a:t>
            </a:r>
            <a:endParaRPr/>
          </a:p>
        </p:txBody>
      </p:sp>
      <p:sp>
        <p:nvSpPr>
          <p:cNvPr id="116" name="Google Shape;116;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Explain that this is the most policy-relevant or portfolio-relevant result. The panel model is not about the market average; it is about differential exposure. That makes the coefficient economically intuitive: smaller firms are more vulnerable to financing frictions, risk aversion, and shifts in investor willingness to hold risk.</a:t>
            </a:r>
            <a:endParaRPr/>
          </a:p>
        </p:txBody>
      </p:sp>
      <p:sp>
        <p:nvSpPr>
          <p:cNvPr id="135" name="Google Shape;135;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 name="Google Shape;15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slide is where you show discipline. The diagnostics are important because they let you say the evidence is not being driven by obvious model pathologies. But also be honest that diagnostics are not the same as strong explanatory power. The result is robust enough to trust, yet not strong enough to overstate.</a:t>
            </a:r>
            <a:endParaRPr/>
          </a:p>
        </p:txBody>
      </p:sp>
      <p:sp>
        <p:nvSpPr>
          <p:cNvPr id="155" name="Google Shape;155;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Make the recommendation concrete. The audience should leave with a decision rule, not just a statistical conclusion. Stress that the recommendation is conditional: sentiment matters most when regimes are changing, especially for small firms and financing-sensitive names. The point is disciplined risk tilting, not market timing bravado.</a:t>
            </a:r>
            <a:endParaRPr/>
          </a:p>
        </p:txBody>
      </p:sp>
      <p:sp>
        <p:nvSpPr>
          <p:cNvPr id="178" name="Google Shape;178;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6d8ccda78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g3e6d8ccda78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slide is where you show discipline. The diagnostics are important because they let you say the evidence is not being driven by obvious model pathologies. But also be honest that diagnostics are not the same as strong explanatory power. The result is robust enough to trust, yet not strong enough to overstate.</a:t>
            </a:r>
            <a:endParaRPr/>
          </a:p>
        </p:txBody>
      </p:sp>
      <p:sp>
        <p:nvSpPr>
          <p:cNvPr id="198" name="Google Shape;198;g3e6d8ccda78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Close by repeating the practical takeaway: sentiment helps the committee manage risk, but it does not give a stable market-timing edge on its own. End with confidence, not hype. If there is time, invite questions about the M3 failure, because that is where the most honest methodological discussion will come from.</a:t>
            </a:r>
            <a:endParaRPr/>
          </a:p>
        </p:txBody>
      </p:sp>
      <p:sp>
        <p:nvSpPr>
          <p:cNvPr id="216" name="Google Shape;216;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747"/>
        </a:solidFill>
      </p:bgPr>
    </p:bg>
    <p:spTree>
      <p:nvGrpSpPr>
        <p:cNvPr id="11" name="Shape 11"/>
        <p:cNvGrpSpPr/>
        <p:nvPr/>
      </p:nvGrpSpPr>
      <p:grpSpPr>
        <a:xfrm>
          <a:off x="0" y="0"/>
          <a:ext cx="0" cy="0"/>
          <a:chOff x="0" y="0"/>
          <a:chExt cx="0" cy="0"/>
        </a:xfrm>
      </p:grpSpPr>
      <p:sp>
        <p:nvSpPr>
          <p:cNvPr id="12" name="Google Shape;12;p3"/>
          <p:cNvSpPr/>
          <p:nvPr/>
        </p:nvSpPr>
        <p:spPr>
          <a:xfrm>
            <a:off x="0" y="0"/>
            <a:ext cx="9144000" cy="5143500"/>
          </a:xfrm>
          <a:prstGeom prst="rect">
            <a:avLst/>
          </a:prstGeom>
          <a:solidFill>
            <a:srgbClr val="0F2747"/>
          </a:solidFill>
          <a:ln cap="flat" cmpd="sng" w="12700">
            <a:solidFill>
              <a:srgbClr val="0F274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3"/>
          <p:cNvSpPr/>
          <p:nvPr/>
        </p:nvSpPr>
        <p:spPr>
          <a:xfrm>
            <a:off x="0" y="0"/>
            <a:ext cx="201168" cy="5143500"/>
          </a:xfrm>
          <a:prstGeom prst="rect">
            <a:avLst/>
          </a:prstGeom>
          <a:solidFill>
            <a:srgbClr val="0C9DA5"/>
          </a:solidFill>
          <a:ln cap="flat" cmpd="sng" w="12700">
            <a:solidFill>
              <a:srgbClr val="0C9DA5">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 name="Google Shape;14;p3"/>
          <p:cNvSpPr/>
          <p:nvPr/>
        </p:nvSpPr>
        <p:spPr>
          <a:xfrm>
            <a:off x="7223760" y="502920"/>
            <a:ext cx="1234440" cy="1234440"/>
          </a:xfrm>
          <a:prstGeom prst="ellipse">
            <a:avLst/>
          </a:prstGeom>
          <a:solidFill>
            <a:srgbClr val="0C9DA5">
              <a:alpha val="30196"/>
            </a:srgbClr>
          </a:solidFill>
          <a:ln cap="flat" cmpd="sng" w="12700">
            <a:solidFill>
              <a:srgbClr val="0C9DA5">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 name="Google Shape;15;p3"/>
          <p:cNvSpPr/>
          <p:nvPr/>
        </p:nvSpPr>
        <p:spPr>
          <a:xfrm>
            <a:off x="7726680" y="1234440"/>
            <a:ext cx="868680" cy="868680"/>
          </a:xfrm>
          <a:prstGeom prst="ellipse">
            <a:avLst/>
          </a:prstGeom>
          <a:solidFill>
            <a:srgbClr val="BFE9E4">
              <a:alpha val="27843"/>
            </a:srgbClr>
          </a:solidFill>
          <a:ln cap="flat" cmpd="sng" w="12700">
            <a:solidFill>
              <a:srgbClr val="BFE9E4">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 name="Google Shape;16;p3"/>
          <p:cNvSpPr/>
          <p:nvPr/>
        </p:nvSpPr>
        <p:spPr>
          <a:xfrm>
            <a:off x="685800" y="1005840"/>
            <a:ext cx="566928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Georgia"/>
              <a:buNone/>
            </a:pPr>
            <a:r>
              <a:rPr b="1" lang="en-US" sz="2600">
                <a:solidFill>
                  <a:srgbClr val="FFFFFF"/>
                </a:solidFill>
                <a:latin typeface="Georgia"/>
                <a:ea typeface="Georgia"/>
                <a:cs typeface="Georgia"/>
                <a:sym typeface="Georgia"/>
              </a:rPr>
              <a:t>Consumer and Investor Sentiment</a:t>
            </a:r>
            <a:endParaRPr sz="26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2600"/>
              <a:buFont typeface="Georgia"/>
              <a:buNone/>
            </a:pPr>
            <a:r>
              <a:rPr b="1" lang="en-US" sz="2600">
                <a:solidFill>
                  <a:srgbClr val="FFFFFF"/>
                </a:solidFill>
                <a:latin typeface="Georgia"/>
                <a:ea typeface="Georgia"/>
                <a:cs typeface="Georgia"/>
                <a:sym typeface="Georgia"/>
              </a:rPr>
              <a:t>as a Timing Signal for U.S. Equity Returns</a:t>
            </a:r>
            <a:endParaRPr sz="2600">
              <a:solidFill>
                <a:schemeClr val="dk1"/>
              </a:solidFill>
              <a:latin typeface="Calibri"/>
              <a:ea typeface="Calibri"/>
              <a:cs typeface="Calibri"/>
              <a:sym typeface="Calibri"/>
            </a:endParaRPr>
          </a:p>
        </p:txBody>
      </p:sp>
      <p:sp>
        <p:nvSpPr>
          <p:cNvPr id="17" name="Google Shape;17;p3"/>
          <p:cNvSpPr/>
          <p:nvPr/>
        </p:nvSpPr>
        <p:spPr>
          <a:xfrm>
            <a:off x="713232" y="2331720"/>
            <a:ext cx="4846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E3F0"/>
              </a:buClr>
              <a:buSzPts val="1400"/>
              <a:buFont typeface="Calibri"/>
              <a:buNone/>
            </a:pPr>
            <a:r>
              <a:rPr lang="en-US" sz="1400">
                <a:solidFill>
                  <a:srgbClr val="D7E3F0"/>
                </a:solidFill>
                <a:latin typeface="Calibri"/>
                <a:ea typeface="Calibri"/>
                <a:cs typeface="Calibri"/>
                <a:sym typeface="Calibri"/>
              </a:rPr>
              <a:t>Final investment memo presentation | M1, M2, M3, and M3v2</a:t>
            </a:r>
            <a:endParaRPr sz="1400">
              <a:solidFill>
                <a:schemeClr val="dk1"/>
              </a:solidFill>
              <a:latin typeface="Calibri"/>
              <a:ea typeface="Calibri"/>
              <a:cs typeface="Calibri"/>
              <a:sym typeface="Calibri"/>
            </a:endParaRPr>
          </a:p>
        </p:txBody>
      </p:sp>
      <p:sp>
        <p:nvSpPr>
          <p:cNvPr id="18" name="Google Shape;18;p3"/>
          <p:cNvSpPr/>
          <p:nvPr/>
        </p:nvSpPr>
        <p:spPr>
          <a:xfrm>
            <a:off x="713232" y="2697480"/>
            <a:ext cx="5120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E3F0"/>
              </a:buClr>
              <a:buSzPts val="1200"/>
              <a:buFont typeface="Calibri"/>
              <a:buNone/>
            </a:pPr>
            <a:r>
              <a:rPr lang="en-US" sz="1200">
                <a:solidFill>
                  <a:srgbClr val="D7E3F0"/>
                </a:solidFill>
                <a:latin typeface="Calibri"/>
                <a:ea typeface="Calibri"/>
                <a:cs typeface="Calibri"/>
                <a:sym typeface="Calibri"/>
              </a:rPr>
              <a:t>2nd Row Team: Steffi Brewer, Nicholas Langkamp, Katrina Baiza</a:t>
            </a:r>
            <a:endParaRPr sz="1200">
              <a:solidFill>
                <a:schemeClr val="dk1"/>
              </a:solidFill>
              <a:latin typeface="Calibri"/>
              <a:ea typeface="Calibri"/>
              <a:cs typeface="Calibri"/>
              <a:sym typeface="Calibri"/>
            </a:endParaRPr>
          </a:p>
        </p:txBody>
      </p:sp>
      <p:sp>
        <p:nvSpPr>
          <p:cNvPr id="19" name="Google Shape;19;p3"/>
          <p:cNvSpPr/>
          <p:nvPr/>
        </p:nvSpPr>
        <p:spPr>
          <a:xfrm>
            <a:off x="6355080" y="1828800"/>
            <a:ext cx="1005840" cy="822960"/>
          </a:xfrm>
          <a:prstGeom prst="roundRect">
            <a:avLst>
              <a:gd fmla="val 8889" name="adj"/>
            </a:avLst>
          </a:prstGeom>
          <a:solidFill>
            <a:srgbClr val="E6F7F6"/>
          </a:solidFill>
          <a:ln cap="flat" cmpd="sng" w="12700">
            <a:solidFill>
              <a:srgbClr val="E6F7F6">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3"/>
          <p:cNvSpPr/>
          <p:nvPr/>
        </p:nvSpPr>
        <p:spPr>
          <a:xfrm>
            <a:off x="6428232" y="1938528"/>
            <a:ext cx="859536"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747"/>
              </a:buClr>
              <a:buSzPts val="2400"/>
              <a:buFont typeface="Georgia"/>
              <a:buNone/>
            </a:pPr>
            <a:r>
              <a:rPr b="1" lang="en-US" sz="2400">
                <a:solidFill>
                  <a:srgbClr val="0F2747"/>
                </a:solidFill>
                <a:latin typeface="Georgia"/>
                <a:ea typeface="Georgia"/>
                <a:cs typeface="Georgia"/>
                <a:sym typeface="Georgia"/>
              </a:rPr>
              <a:t>252</a:t>
            </a:r>
            <a:endParaRPr sz="2400">
              <a:solidFill>
                <a:schemeClr val="dk1"/>
              </a:solidFill>
              <a:latin typeface="Calibri"/>
              <a:ea typeface="Calibri"/>
              <a:cs typeface="Calibri"/>
              <a:sym typeface="Calibri"/>
            </a:endParaRPr>
          </a:p>
        </p:txBody>
      </p:sp>
      <p:sp>
        <p:nvSpPr>
          <p:cNvPr id="21" name="Google Shape;21;p3"/>
          <p:cNvSpPr/>
          <p:nvPr/>
        </p:nvSpPr>
        <p:spPr>
          <a:xfrm>
            <a:off x="6446520" y="2304288"/>
            <a:ext cx="82296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C7A89"/>
              </a:buClr>
              <a:buSzPts val="1100"/>
              <a:buFont typeface="Calibri"/>
              <a:buNone/>
            </a:pPr>
            <a:r>
              <a:rPr lang="en-US" sz="1100">
                <a:solidFill>
                  <a:srgbClr val="6C7A89"/>
                </a:solidFill>
                <a:latin typeface="Calibri"/>
                <a:ea typeface="Calibri"/>
                <a:cs typeface="Calibri"/>
                <a:sym typeface="Calibri"/>
              </a:rPr>
              <a:t>monthly obs.</a:t>
            </a:r>
            <a:endParaRPr sz="1100">
              <a:solidFill>
                <a:schemeClr val="dk1"/>
              </a:solidFill>
              <a:latin typeface="Calibri"/>
              <a:ea typeface="Calibri"/>
              <a:cs typeface="Calibri"/>
              <a:sym typeface="Calibri"/>
            </a:endParaRPr>
          </a:p>
        </p:txBody>
      </p:sp>
      <p:sp>
        <p:nvSpPr>
          <p:cNvPr id="22" name="Google Shape;22;p3"/>
          <p:cNvSpPr/>
          <p:nvPr/>
        </p:nvSpPr>
        <p:spPr>
          <a:xfrm>
            <a:off x="7452360" y="1828800"/>
            <a:ext cx="1005840" cy="822960"/>
          </a:xfrm>
          <a:prstGeom prst="roundRect">
            <a:avLst>
              <a:gd fmla="val 8889" name="adj"/>
            </a:avLst>
          </a:prstGeom>
          <a:solidFill>
            <a:srgbClr val="EAF2F8"/>
          </a:solidFill>
          <a:ln cap="flat" cmpd="sng" w="12700">
            <a:solidFill>
              <a:srgbClr val="EAF2F8">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 name="Google Shape;23;p3"/>
          <p:cNvSpPr/>
          <p:nvPr/>
        </p:nvSpPr>
        <p:spPr>
          <a:xfrm>
            <a:off x="7525512" y="1938528"/>
            <a:ext cx="859536"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747"/>
              </a:buClr>
              <a:buSzPts val="2400"/>
              <a:buFont typeface="Georgia"/>
              <a:buNone/>
            </a:pPr>
            <a:r>
              <a:rPr b="1" lang="en-US" sz="2400">
                <a:solidFill>
                  <a:srgbClr val="0F2747"/>
                </a:solidFill>
                <a:latin typeface="Georgia"/>
                <a:ea typeface="Georgia"/>
                <a:cs typeface="Georgia"/>
                <a:sym typeface="Georgia"/>
              </a:rPr>
              <a:t>0</a:t>
            </a:r>
            <a:endParaRPr sz="2400">
              <a:solidFill>
                <a:schemeClr val="dk1"/>
              </a:solidFill>
              <a:latin typeface="Calibri"/>
              <a:ea typeface="Calibri"/>
              <a:cs typeface="Calibri"/>
              <a:sym typeface="Calibri"/>
            </a:endParaRPr>
          </a:p>
        </p:txBody>
      </p:sp>
      <p:sp>
        <p:nvSpPr>
          <p:cNvPr id="24" name="Google Shape;24;p3"/>
          <p:cNvSpPr/>
          <p:nvPr/>
        </p:nvSpPr>
        <p:spPr>
          <a:xfrm>
            <a:off x="7543800" y="2304288"/>
            <a:ext cx="82296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C7A89"/>
              </a:buClr>
              <a:buSzPts val="1100"/>
              <a:buFont typeface="Calibri"/>
              <a:buNone/>
            </a:pPr>
            <a:r>
              <a:rPr lang="en-US" sz="1100">
                <a:solidFill>
                  <a:srgbClr val="6C7A89"/>
                </a:solidFill>
                <a:latin typeface="Calibri"/>
                <a:ea typeface="Calibri"/>
                <a:cs typeface="Calibri"/>
                <a:sym typeface="Calibri"/>
              </a:rPr>
              <a:t>missing cells</a:t>
            </a:r>
            <a:endParaRPr sz="1100">
              <a:solidFill>
                <a:schemeClr val="dk1"/>
              </a:solidFill>
              <a:latin typeface="Calibri"/>
              <a:ea typeface="Calibri"/>
              <a:cs typeface="Calibri"/>
              <a:sym typeface="Calibri"/>
            </a:endParaRPr>
          </a:p>
        </p:txBody>
      </p:sp>
      <p:sp>
        <p:nvSpPr>
          <p:cNvPr id="25" name="Google Shape;25;p3"/>
          <p:cNvSpPr/>
          <p:nvPr/>
        </p:nvSpPr>
        <p:spPr>
          <a:xfrm>
            <a:off x="6903720" y="2761488"/>
            <a:ext cx="1005840" cy="822960"/>
          </a:xfrm>
          <a:prstGeom prst="roundRect">
            <a:avLst>
              <a:gd fmla="val 8889" name="adj"/>
            </a:avLst>
          </a:prstGeom>
          <a:solidFill>
            <a:srgbClr val="FFF3D6"/>
          </a:solidFill>
          <a:ln cap="flat" cmpd="sng" w="12700">
            <a:solidFill>
              <a:srgbClr val="FFF3D6">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 name="Google Shape;26;p3"/>
          <p:cNvSpPr/>
          <p:nvPr/>
        </p:nvSpPr>
        <p:spPr>
          <a:xfrm>
            <a:off x="6976872" y="2871216"/>
            <a:ext cx="859536"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747"/>
              </a:buClr>
              <a:buSzPts val="2400"/>
              <a:buFont typeface="Georgia"/>
              <a:buNone/>
            </a:pPr>
            <a:r>
              <a:rPr b="1" lang="en-US" sz="2400">
                <a:solidFill>
                  <a:srgbClr val="0F2747"/>
                </a:solidFill>
                <a:latin typeface="Georgia"/>
                <a:ea typeface="Georgia"/>
                <a:cs typeface="Georgia"/>
                <a:sym typeface="Georgia"/>
              </a:rPr>
              <a:t>52k</a:t>
            </a:r>
            <a:endParaRPr sz="2400">
              <a:solidFill>
                <a:schemeClr val="dk1"/>
              </a:solidFill>
              <a:latin typeface="Calibri"/>
              <a:ea typeface="Calibri"/>
              <a:cs typeface="Calibri"/>
              <a:sym typeface="Calibri"/>
            </a:endParaRPr>
          </a:p>
        </p:txBody>
      </p:sp>
      <p:sp>
        <p:nvSpPr>
          <p:cNvPr id="27" name="Google Shape;27;p3"/>
          <p:cNvSpPr/>
          <p:nvPr/>
        </p:nvSpPr>
        <p:spPr>
          <a:xfrm>
            <a:off x="6995160" y="3236976"/>
            <a:ext cx="82296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C7A89"/>
              </a:buClr>
              <a:buSzPts val="1100"/>
              <a:buFont typeface="Calibri"/>
              <a:buNone/>
            </a:pPr>
            <a:r>
              <a:rPr lang="en-US" sz="1100">
                <a:solidFill>
                  <a:srgbClr val="6C7A89"/>
                </a:solidFill>
                <a:latin typeface="Calibri"/>
                <a:ea typeface="Calibri"/>
                <a:cs typeface="Calibri"/>
                <a:sym typeface="Calibri"/>
              </a:rPr>
              <a:t>firm-years</a:t>
            </a:r>
            <a:endParaRPr sz="1100">
              <a:solidFill>
                <a:schemeClr val="dk1"/>
              </a:solidFill>
              <a:latin typeface="Calibri"/>
              <a:ea typeface="Calibri"/>
              <a:cs typeface="Calibri"/>
              <a:sym typeface="Calibri"/>
            </a:endParaRPr>
          </a:p>
        </p:txBody>
      </p:sp>
      <p:sp>
        <p:nvSpPr>
          <p:cNvPr id="28" name="Google Shape;28;p3"/>
          <p:cNvSpPr/>
          <p:nvPr/>
        </p:nvSpPr>
        <p:spPr>
          <a:xfrm>
            <a:off x="713232" y="4160520"/>
            <a:ext cx="6492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F2F8"/>
              </a:buClr>
              <a:buSzPts val="1200"/>
              <a:buFont typeface="Calibri"/>
              <a:buNone/>
            </a:pPr>
            <a:r>
              <a:rPr i="1" lang="en-US" sz="1200">
                <a:solidFill>
                  <a:srgbClr val="EAF2F8"/>
                </a:solidFill>
                <a:latin typeface="Calibri"/>
                <a:ea typeface="Calibri"/>
                <a:cs typeface="Calibri"/>
                <a:sym typeface="Calibri"/>
              </a:rPr>
              <a:t>The memo treats sentiment as a regime filter, not a standalone timing rule.</a:t>
            </a:r>
            <a:endParaRPr sz="1200">
              <a:solidFill>
                <a:schemeClr val="dk1"/>
              </a:solidFill>
              <a:latin typeface="Calibri"/>
              <a:ea typeface="Calibri"/>
              <a:cs typeface="Calibri"/>
              <a:sym typeface="Calibri"/>
            </a:endParaRPr>
          </a:p>
        </p:txBody>
      </p:sp>
      <p:sp>
        <p:nvSpPr>
          <p:cNvPr id="29" name="Google Shape;29;p3"/>
          <p:cNvSpPr/>
          <p:nvPr/>
        </p:nvSpPr>
        <p:spPr>
          <a:xfrm>
            <a:off x="7315200" y="4526280"/>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7E3F0"/>
              </a:buClr>
              <a:buSzPts val="1000"/>
              <a:buFont typeface="Calibri"/>
              <a:buNone/>
            </a:pPr>
            <a:r>
              <a:rPr b="1" lang="en-US" sz="1000">
                <a:solidFill>
                  <a:srgbClr val="D7E3F0"/>
                </a:solidFill>
                <a:latin typeface="Calibri"/>
                <a:ea typeface="Calibri"/>
                <a:cs typeface="Calibri"/>
                <a:sym typeface="Calibri"/>
              </a:rPr>
              <a:t>M1 → M2 → M3 → M3v2</a:t>
            </a:r>
            <a:endParaRPr sz="1000">
              <a:solidFill>
                <a:schemeClr val="dk1"/>
              </a:solidFill>
              <a:latin typeface="Calibri"/>
              <a:ea typeface="Calibri"/>
              <a:cs typeface="Calibri"/>
              <a:sym typeface="Calibri"/>
            </a:endParaRPr>
          </a:p>
        </p:txBody>
      </p:sp>
      <p:sp>
        <p:nvSpPr>
          <p:cNvPr id="30" name="Google Shape;30;p3"/>
          <p:cNvSpPr/>
          <p:nvPr/>
        </p:nvSpPr>
        <p:spPr>
          <a:xfrm>
            <a:off x="7635240" y="6446520"/>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DE7F2"/>
              </a:buClr>
              <a:buSzPts val="900"/>
              <a:buFont typeface="Calibri"/>
              <a:buNone/>
            </a:pPr>
            <a:r>
              <a:rPr lang="en-US" sz="900">
                <a:solidFill>
                  <a:srgbClr val="DDE7F2"/>
                </a:solidFill>
                <a:latin typeface="Calibri"/>
                <a:ea typeface="Calibri"/>
                <a:cs typeface="Calibri"/>
                <a:sym typeface="Calibri"/>
              </a:rPr>
              <a:t>2nd Row Team | 1/10</a:t>
            </a:r>
            <a:endParaRPr sz="9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1E8"/>
        </a:solidFill>
      </p:bgPr>
    </p:bg>
    <p:spTree>
      <p:nvGrpSpPr>
        <p:cNvPr id="35" name="Shape 35"/>
        <p:cNvGrpSpPr/>
        <p:nvPr/>
      </p:nvGrpSpPr>
      <p:grpSpPr>
        <a:xfrm>
          <a:off x="0" y="0"/>
          <a:ext cx="0" cy="0"/>
          <a:chOff x="0" y="0"/>
          <a:chExt cx="0" cy="0"/>
        </a:xfrm>
      </p:grpSpPr>
      <p:sp>
        <p:nvSpPr>
          <p:cNvPr id="36" name="Google Shape;36;p4"/>
          <p:cNvSpPr/>
          <p:nvPr/>
        </p:nvSpPr>
        <p:spPr>
          <a:xfrm>
            <a:off x="502920" y="365760"/>
            <a:ext cx="1920240" cy="310896"/>
          </a:xfrm>
          <a:prstGeom prst="roundRect">
            <a:avLst>
              <a:gd fmla="val 16667" name="adj"/>
            </a:avLst>
          </a:prstGeom>
          <a:solidFill>
            <a:srgbClr val="E6F7F6"/>
          </a:solidFill>
          <a:ln cap="flat" cmpd="sng" w="9525">
            <a:solidFill>
              <a:srgbClr val="E6F7F6">
                <a:alpha val="0"/>
              </a:srgbClr>
            </a:solidFill>
            <a:prstDash val="solid"/>
            <a:round/>
            <a:headEnd len="sm" w="sm" type="none"/>
            <a:tailEnd len="sm" w="sm" type="none"/>
          </a:ln>
        </p:spPr>
        <p:txBody>
          <a:bodyPr anchorCtr="0" anchor="ctr" bIns="750" lIns="750" spcFirstLastPara="1" rIns="750" wrap="square" tIns="750">
            <a:noAutofit/>
          </a:bodyPr>
          <a:lstStyle/>
          <a:p>
            <a:pPr indent="0" lvl="0" marL="0" marR="0" rtl="0" algn="ctr">
              <a:spcBef>
                <a:spcPts val="0"/>
              </a:spcBef>
              <a:spcAft>
                <a:spcPts val="0"/>
              </a:spcAft>
              <a:buClr>
                <a:srgbClr val="0C9DA5"/>
              </a:buClr>
              <a:buSzPts val="1100"/>
              <a:buFont typeface="Calibri"/>
              <a:buNone/>
            </a:pPr>
            <a:r>
              <a:rPr b="1" lang="en-US" sz="1100">
                <a:solidFill>
                  <a:srgbClr val="0C9DA5"/>
                </a:solidFill>
                <a:latin typeface="Calibri"/>
                <a:ea typeface="Calibri"/>
                <a:cs typeface="Calibri"/>
                <a:sym typeface="Calibri"/>
              </a:rPr>
              <a:t>Executive Summary</a:t>
            </a:r>
            <a:endParaRPr sz="1100">
              <a:solidFill>
                <a:schemeClr val="dk1"/>
              </a:solidFill>
              <a:latin typeface="Calibri"/>
              <a:ea typeface="Calibri"/>
              <a:cs typeface="Calibri"/>
              <a:sym typeface="Calibri"/>
            </a:endParaRPr>
          </a:p>
        </p:txBody>
      </p:sp>
      <p:sp>
        <p:nvSpPr>
          <p:cNvPr id="37" name="Google Shape;37;p4"/>
          <p:cNvSpPr/>
          <p:nvPr/>
        </p:nvSpPr>
        <p:spPr>
          <a:xfrm>
            <a:off x="502920" y="749808"/>
            <a:ext cx="7863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2400"/>
              <a:buFont typeface="Georgia"/>
              <a:buNone/>
            </a:pPr>
            <a:r>
              <a:rPr b="1" lang="en-US" sz="2400">
                <a:solidFill>
                  <a:srgbClr val="0F2747"/>
                </a:solidFill>
                <a:latin typeface="Georgia"/>
                <a:ea typeface="Georgia"/>
                <a:cs typeface="Georgia"/>
                <a:sym typeface="Georgia"/>
              </a:rPr>
              <a:t>What we found in one sentence</a:t>
            </a:r>
            <a:endParaRPr sz="2400">
              <a:solidFill>
                <a:schemeClr val="dk1"/>
              </a:solidFill>
              <a:latin typeface="Calibri"/>
              <a:ea typeface="Calibri"/>
              <a:cs typeface="Calibri"/>
              <a:sym typeface="Calibri"/>
            </a:endParaRPr>
          </a:p>
        </p:txBody>
      </p:sp>
      <p:cxnSp>
        <p:nvCxnSpPr>
          <p:cNvPr id="38" name="Google Shape;38;p4"/>
          <p:cNvCxnSpPr/>
          <p:nvPr/>
        </p:nvCxnSpPr>
        <p:spPr>
          <a:xfrm>
            <a:off x="502920" y="1389888"/>
            <a:ext cx="8229600" cy="0"/>
          </a:xfrm>
          <a:prstGeom prst="straightConnector1">
            <a:avLst/>
          </a:prstGeom>
          <a:noFill/>
          <a:ln cap="flat" cmpd="sng" w="15225">
            <a:solidFill>
              <a:srgbClr val="0C9DA5">
                <a:alpha val="74901"/>
              </a:srgbClr>
            </a:solidFill>
            <a:prstDash val="solid"/>
            <a:round/>
            <a:headEnd len="sm" w="sm" type="none"/>
            <a:tailEnd len="sm" w="sm" type="none"/>
          </a:ln>
        </p:spPr>
      </p:cxnSp>
      <p:sp>
        <p:nvSpPr>
          <p:cNvPr id="39" name="Google Shape;39;p4"/>
          <p:cNvSpPr/>
          <p:nvPr/>
        </p:nvSpPr>
        <p:spPr>
          <a:xfrm>
            <a:off x="502920" y="1737360"/>
            <a:ext cx="2697480" cy="2103120"/>
          </a:xfrm>
          <a:prstGeom prst="roundRect">
            <a:avLst>
              <a:gd fmla="val 3478" name="adj"/>
            </a:avLst>
          </a:prstGeom>
          <a:solidFill>
            <a:srgbClr val="FFFFFF"/>
          </a:solidFill>
          <a:ln cap="flat" cmpd="sng" w="12700">
            <a:solidFill>
              <a:srgbClr val="D7DDE4">
                <a:alpha val="0"/>
              </a:srgbClr>
            </a:solidFill>
            <a:prstDash val="solid"/>
            <a:round/>
            <a:headEnd len="sm" w="sm" type="none"/>
            <a:tailEnd len="sm" w="sm" type="none"/>
          </a:ln>
          <a:effectLst>
            <a:outerShdw blurRad="25400" rotWithShape="0" algn="bl" dir="2700000" dist="127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 name="Google Shape;40;p4"/>
          <p:cNvSpPr/>
          <p:nvPr/>
        </p:nvSpPr>
        <p:spPr>
          <a:xfrm>
            <a:off x="667512" y="1865376"/>
            <a:ext cx="23682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1500"/>
              <a:buFont typeface="Georgia"/>
              <a:buNone/>
            </a:pPr>
            <a:r>
              <a:rPr b="1" lang="en-US" sz="1500">
                <a:solidFill>
                  <a:srgbClr val="0F2747"/>
                </a:solidFill>
                <a:latin typeface="Georgia"/>
                <a:ea typeface="Georgia"/>
                <a:cs typeface="Georgia"/>
                <a:sym typeface="Georgia"/>
              </a:rPr>
              <a:t>Broad market</a:t>
            </a:r>
            <a:endParaRPr sz="1500">
              <a:solidFill>
                <a:schemeClr val="dk1"/>
              </a:solidFill>
              <a:latin typeface="Calibri"/>
              <a:ea typeface="Calibri"/>
              <a:cs typeface="Calibri"/>
              <a:sym typeface="Calibri"/>
            </a:endParaRPr>
          </a:p>
        </p:txBody>
      </p:sp>
      <p:sp>
        <p:nvSpPr>
          <p:cNvPr id="41" name="Google Shape;41;p4"/>
          <p:cNvSpPr/>
          <p:nvPr/>
        </p:nvSpPr>
        <p:spPr>
          <a:xfrm>
            <a:off x="667512" y="2355272"/>
            <a:ext cx="2368296" cy="1375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3447"/>
              </a:buClr>
              <a:buSzPts val="1200"/>
              <a:buFont typeface="Calibri"/>
              <a:buNone/>
            </a:pPr>
            <a:r>
              <a:rPr lang="en-US" sz="1200">
                <a:solidFill>
                  <a:srgbClr val="243447"/>
                </a:solidFill>
                <a:latin typeface="Calibri"/>
                <a:ea typeface="Calibri"/>
                <a:cs typeface="Calibri"/>
                <a:sym typeface="Calibri"/>
              </a:rPr>
              <a:t>Sentiment is useful, but it is not a strong standalone timing rule for the overall market. The aggregate M3 coefficients were small and weak.</a:t>
            </a:r>
            <a:endParaRPr sz="1200">
              <a:solidFill>
                <a:schemeClr val="dk1"/>
              </a:solidFill>
              <a:latin typeface="Calibri"/>
              <a:ea typeface="Calibri"/>
              <a:cs typeface="Calibri"/>
              <a:sym typeface="Calibri"/>
            </a:endParaRPr>
          </a:p>
        </p:txBody>
      </p:sp>
      <p:sp>
        <p:nvSpPr>
          <p:cNvPr id="42" name="Google Shape;42;p4"/>
          <p:cNvSpPr/>
          <p:nvPr/>
        </p:nvSpPr>
        <p:spPr>
          <a:xfrm>
            <a:off x="3200400" y="1737360"/>
            <a:ext cx="2697480" cy="2103120"/>
          </a:xfrm>
          <a:prstGeom prst="roundRect">
            <a:avLst>
              <a:gd fmla="val 3478" name="adj"/>
            </a:avLst>
          </a:prstGeom>
          <a:solidFill>
            <a:srgbClr val="E6F7F6"/>
          </a:solidFill>
          <a:ln cap="flat" cmpd="sng" w="12700">
            <a:solidFill>
              <a:srgbClr val="E6F7F6">
                <a:alpha val="0"/>
              </a:srgbClr>
            </a:solidFill>
            <a:prstDash val="solid"/>
            <a:round/>
            <a:headEnd len="sm" w="sm" type="none"/>
            <a:tailEnd len="sm" w="sm" type="none"/>
          </a:ln>
          <a:effectLst>
            <a:outerShdw blurRad="25400" rotWithShape="0" algn="bl" dir="2700000" dist="127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 name="Google Shape;43;p4"/>
          <p:cNvSpPr/>
          <p:nvPr/>
        </p:nvSpPr>
        <p:spPr>
          <a:xfrm>
            <a:off x="3351137" y="1865376"/>
            <a:ext cx="23682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1500"/>
              <a:buFont typeface="Georgia"/>
              <a:buNone/>
            </a:pPr>
            <a:r>
              <a:rPr b="1" lang="en-US" sz="1500">
                <a:solidFill>
                  <a:srgbClr val="0F2747"/>
                </a:solidFill>
                <a:latin typeface="Georgia"/>
                <a:ea typeface="Georgia"/>
                <a:cs typeface="Georgia"/>
                <a:sym typeface="Georgia"/>
              </a:rPr>
              <a:t>Where the signal </a:t>
            </a:r>
            <a:endParaRPr/>
          </a:p>
          <a:p>
            <a:pPr indent="0" lvl="0" marL="0" marR="0" rtl="0" algn="l">
              <a:spcBef>
                <a:spcPts val="0"/>
              </a:spcBef>
              <a:spcAft>
                <a:spcPts val="0"/>
              </a:spcAft>
              <a:buClr>
                <a:srgbClr val="0F2747"/>
              </a:buClr>
              <a:buSzPts val="1500"/>
              <a:buFont typeface="Georgia"/>
              <a:buNone/>
            </a:pPr>
            <a:r>
              <a:rPr b="1" lang="en-US" sz="1500">
                <a:solidFill>
                  <a:srgbClr val="0F2747"/>
                </a:solidFill>
                <a:latin typeface="Georgia"/>
                <a:ea typeface="Georgia"/>
                <a:cs typeface="Georgia"/>
                <a:sym typeface="Georgia"/>
              </a:rPr>
              <a:t>shows up</a:t>
            </a:r>
            <a:endParaRPr sz="1500">
              <a:solidFill>
                <a:schemeClr val="dk1"/>
              </a:solidFill>
              <a:latin typeface="Calibri"/>
              <a:ea typeface="Calibri"/>
              <a:cs typeface="Calibri"/>
              <a:sym typeface="Calibri"/>
            </a:endParaRPr>
          </a:p>
        </p:txBody>
      </p:sp>
      <p:sp>
        <p:nvSpPr>
          <p:cNvPr id="44" name="Google Shape;44;p4"/>
          <p:cNvSpPr/>
          <p:nvPr/>
        </p:nvSpPr>
        <p:spPr>
          <a:xfrm>
            <a:off x="3364992" y="2355272"/>
            <a:ext cx="2368296" cy="137547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3447"/>
              </a:buClr>
              <a:buSzPts val="1200"/>
              <a:buFont typeface="Calibri"/>
              <a:buNone/>
            </a:pPr>
            <a:r>
              <a:rPr lang="en-US" sz="1200">
                <a:solidFill>
                  <a:srgbClr val="243447"/>
                </a:solidFill>
                <a:latin typeface="Calibri"/>
                <a:ea typeface="Calibri"/>
                <a:cs typeface="Calibri"/>
                <a:sym typeface="Calibri"/>
              </a:rPr>
              <a:t>The stronger effect appears in crisis transitions and in smaller, more sentiment-sensitive firms. That is where funding conditions and risk appetite matter most.</a:t>
            </a:r>
            <a:endParaRPr sz="1200">
              <a:solidFill>
                <a:schemeClr val="dk1"/>
              </a:solidFill>
              <a:latin typeface="Calibri"/>
              <a:ea typeface="Calibri"/>
              <a:cs typeface="Calibri"/>
              <a:sym typeface="Calibri"/>
            </a:endParaRPr>
          </a:p>
        </p:txBody>
      </p:sp>
      <p:sp>
        <p:nvSpPr>
          <p:cNvPr id="45" name="Google Shape;45;p4"/>
          <p:cNvSpPr/>
          <p:nvPr/>
        </p:nvSpPr>
        <p:spPr>
          <a:xfrm>
            <a:off x="5897880" y="1737360"/>
            <a:ext cx="2697480" cy="2103120"/>
          </a:xfrm>
          <a:prstGeom prst="roundRect">
            <a:avLst>
              <a:gd fmla="val 3478" name="adj"/>
            </a:avLst>
          </a:prstGeom>
          <a:solidFill>
            <a:srgbClr val="FFF3D6"/>
          </a:solidFill>
          <a:ln cap="flat" cmpd="sng" w="12700">
            <a:solidFill>
              <a:srgbClr val="FFF3D6">
                <a:alpha val="0"/>
              </a:srgbClr>
            </a:solidFill>
            <a:prstDash val="solid"/>
            <a:round/>
            <a:headEnd len="sm" w="sm" type="none"/>
            <a:tailEnd len="sm" w="sm" type="none"/>
          </a:ln>
          <a:effectLst>
            <a:outerShdw blurRad="25400" rotWithShape="0" algn="bl" dir="2700000" dist="127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p4"/>
          <p:cNvSpPr/>
          <p:nvPr/>
        </p:nvSpPr>
        <p:spPr>
          <a:xfrm>
            <a:off x="6062472" y="1865376"/>
            <a:ext cx="23682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1500"/>
              <a:buFont typeface="Georgia"/>
              <a:buNone/>
            </a:pPr>
            <a:r>
              <a:rPr b="1" lang="en-US" sz="1500">
                <a:solidFill>
                  <a:srgbClr val="0F2747"/>
                </a:solidFill>
                <a:latin typeface="Georgia"/>
                <a:ea typeface="Georgia"/>
                <a:cs typeface="Georgia"/>
                <a:sym typeface="Georgia"/>
              </a:rPr>
              <a:t>Decision rule</a:t>
            </a:r>
            <a:endParaRPr sz="1500">
              <a:solidFill>
                <a:schemeClr val="dk1"/>
              </a:solidFill>
              <a:latin typeface="Calibri"/>
              <a:ea typeface="Calibri"/>
              <a:cs typeface="Calibri"/>
              <a:sym typeface="Calibri"/>
            </a:endParaRPr>
          </a:p>
        </p:txBody>
      </p:sp>
      <p:sp>
        <p:nvSpPr>
          <p:cNvPr id="47" name="Google Shape;47;p4"/>
          <p:cNvSpPr/>
          <p:nvPr/>
        </p:nvSpPr>
        <p:spPr>
          <a:xfrm>
            <a:off x="6062472" y="2355272"/>
            <a:ext cx="2368296" cy="1375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3447"/>
              </a:buClr>
              <a:buSzPts val="1200"/>
              <a:buFont typeface="Calibri"/>
              <a:buNone/>
            </a:pPr>
            <a:r>
              <a:rPr lang="en-US" sz="1200">
                <a:solidFill>
                  <a:srgbClr val="243447"/>
                </a:solidFill>
                <a:latin typeface="Calibri"/>
                <a:ea typeface="Calibri"/>
                <a:cs typeface="Calibri"/>
                <a:sym typeface="Calibri"/>
              </a:rPr>
              <a:t>Use sentiment as a regime overlay. Tilt risk exposure within equities, but do not rely on it to predict the next month of the market by itself.</a:t>
            </a:r>
            <a:endParaRPr sz="1200">
              <a:solidFill>
                <a:schemeClr val="dk1"/>
              </a:solidFill>
              <a:latin typeface="Calibri"/>
              <a:ea typeface="Calibri"/>
              <a:cs typeface="Calibri"/>
              <a:sym typeface="Calibri"/>
            </a:endParaRPr>
          </a:p>
        </p:txBody>
      </p:sp>
      <p:sp>
        <p:nvSpPr>
          <p:cNvPr id="48" name="Google Shape;48;p4"/>
          <p:cNvSpPr/>
          <p:nvPr/>
        </p:nvSpPr>
        <p:spPr>
          <a:xfrm>
            <a:off x="4023360" y="4251960"/>
            <a:ext cx="1097280" cy="384048"/>
          </a:xfrm>
          <a:prstGeom prst="chevron">
            <a:avLst>
              <a:gd fmla="val 50000" name="adj"/>
            </a:avLst>
          </a:prstGeom>
          <a:solidFill>
            <a:srgbClr val="0C9DA5"/>
          </a:solidFill>
          <a:ln cap="flat" cmpd="sng" w="12700">
            <a:solidFill>
              <a:srgbClr val="0C9DA5">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 name="Google Shape;49;p4"/>
          <p:cNvSpPr/>
          <p:nvPr/>
        </p:nvSpPr>
        <p:spPr>
          <a:xfrm>
            <a:off x="3108960" y="4297680"/>
            <a:ext cx="301752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C7A89"/>
              </a:buClr>
              <a:buSzPts val="1100"/>
              <a:buFont typeface="Calibri"/>
              <a:buNone/>
            </a:pPr>
            <a:r>
              <a:rPr b="1" lang="en-US" sz="1100">
                <a:solidFill>
                  <a:srgbClr val="6C7A89"/>
                </a:solidFill>
                <a:latin typeface="Calibri"/>
                <a:ea typeface="Calibri"/>
                <a:cs typeface="Calibri"/>
                <a:sym typeface="Calibri"/>
              </a:rPr>
              <a:t>from signal to allocation</a:t>
            </a:r>
            <a:endParaRPr sz="1100">
              <a:solidFill>
                <a:schemeClr val="dk1"/>
              </a:solidFill>
              <a:latin typeface="Calibri"/>
              <a:ea typeface="Calibri"/>
              <a:cs typeface="Calibri"/>
              <a:sym typeface="Calibri"/>
            </a:endParaRPr>
          </a:p>
        </p:txBody>
      </p:sp>
      <p:sp>
        <p:nvSpPr>
          <p:cNvPr id="50" name="Google Shape;50;p4"/>
          <p:cNvSpPr/>
          <p:nvPr/>
        </p:nvSpPr>
        <p:spPr>
          <a:xfrm>
            <a:off x="7635240" y="6446520"/>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C7A89"/>
              </a:buClr>
              <a:buSzPts val="900"/>
              <a:buFont typeface="Calibri"/>
              <a:buNone/>
            </a:pPr>
            <a:r>
              <a:rPr lang="en-US" sz="900">
                <a:solidFill>
                  <a:srgbClr val="6C7A89"/>
                </a:solidFill>
                <a:latin typeface="Calibri"/>
                <a:ea typeface="Calibri"/>
                <a:cs typeface="Calibri"/>
                <a:sym typeface="Calibri"/>
              </a:rPr>
              <a:t>2nd Row Team | 2/10</a:t>
            </a:r>
            <a:endParaRPr sz="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 name="Shape 55"/>
        <p:cNvGrpSpPr/>
        <p:nvPr/>
      </p:nvGrpSpPr>
      <p:grpSpPr>
        <a:xfrm>
          <a:off x="0" y="0"/>
          <a:ext cx="0" cy="0"/>
          <a:chOff x="0" y="0"/>
          <a:chExt cx="0" cy="0"/>
        </a:xfrm>
      </p:grpSpPr>
      <p:sp>
        <p:nvSpPr>
          <p:cNvPr id="56" name="Google Shape;56;p5"/>
          <p:cNvSpPr/>
          <p:nvPr/>
        </p:nvSpPr>
        <p:spPr>
          <a:xfrm>
            <a:off x="502920" y="365760"/>
            <a:ext cx="1920240" cy="310896"/>
          </a:xfrm>
          <a:prstGeom prst="roundRect">
            <a:avLst>
              <a:gd fmla="val 16667" name="adj"/>
            </a:avLst>
          </a:prstGeom>
          <a:solidFill>
            <a:srgbClr val="E6F7F6"/>
          </a:solidFill>
          <a:ln cap="flat" cmpd="sng" w="9525">
            <a:solidFill>
              <a:srgbClr val="E6F7F6">
                <a:alpha val="0"/>
              </a:srgbClr>
            </a:solidFill>
            <a:prstDash val="solid"/>
            <a:round/>
            <a:headEnd len="sm" w="sm" type="none"/>
            <a:tailEnd len="sm" w="sm" type="none"/>
          </a:ln>
        </p:spPr>
        <p:txBody>
          <a:bodyPr anchorCtr="0" anchor="ctr" bIns="750" lIns="750" spcFirstLastPara="1" rIns="750" wrap="square" tIns="750">
            <a:noAutofit/>
          </a:bodyPr>
          <a:lstStyle/>
          <a:p>
            <a:pPr indent="0" lvl="0" marL="0" marR="0" rtl="0" algn="ctr">
              <a:spcBef>
                <a:spcPts val="0"/>
              </a:spcBef>
              <a:spcAft>
                <a:spcPts val="0"/>
              </a:spcAft>
              <a:buClr>
                <a:srgbClr val="0C9DA5"/>
              </a:buClr>
              <a:buSzPts val="1100"/>
              <a:buFont typeface="Calibri"/>
              <a:buNone/>
            </a:pPr>
            <a:r>
              <a:rPr b="1" lang="en-US" sz="1100">
                <a:solidFill>
                  <a:srgbClr val="0C9DA5"/>
                </a:solidFill>
                <a:latin typeface="Calibri"/>
                <a:ea typeface="Calibri"/>
                <a:cs typeface="Calibri"/>
                <a:sym typeface="Calibri"/>
              </a:rPr>
              <a:t>Data and sample construction</a:t>
            </a:r>
            <a:endParaRPr sz="1100">
              <a:solidFill>
                <a:schemeClr val="dk1"/>
              </a:solidFill>
              <a:latin typeface="Calibri"/>
              <a:ea typeface="Calibri"/>
              <a:cs typeface="Calibri"/>
              <a:sym typeface="Calibri"/>
            </a:endParaRPr>
          </a:p>
        </p:txBody>
      </p:sp>
      <p:sp>
        <p:nvSpPr>
          <p:cNvPr id="57" name="Google Shape;57;p5"/>
          <p:cNvSpPr/>
          <p:nvPr/>
        </p:nvSpPr>
        <p:spPr>
          <a:xfrm>
            <a:off x="502920" y="749808"/>
            <a:ext cx="7863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2400"/>
              <a:buFont typeface="Georgia"/>
              <a:buNone/>
            </a:pPr>
            <a:r>
              <a:rPr b="1" lang="en-US" sz="2400">
                <a:solidFill>
                  <a:srgbClr val="0F2747"/>
                </a:solidFill>
                <a:latin typeface="Georgia"/>
                <a:ea typeface="Georgia"/>
                <a:cs typeface="Georgia"/>
                <a:sym typeface="Georgia"/>
              </a:rPr>
              <a:t>M1: Clean data was the foundation of the analysis</a:t>
            </a:r>
            <a:endParaRPr sz="2400">
              <a:solidFill>
                <a:schemeClr val="dk1"/>
              </a:solidFill>
              <a:latin typeface="Calibri"/>
              <a:ea typeface="Calibri"/>
              <a:cs typeface="Calibri"/>
              <a:sym typeface="Calibri"/>
            </a:endParaRPr>
          </a:p>
        </p:txBody>
      </p:sp>
      <p:cxnSp>
        <p:nvCxnSpPr>
          <p:cNvPr id="58" name="Google Shape;58;p5"/>
          <p:cNvCxnSpPr/>
          <p:nvPr/>
        </p:nvCxnSpPr>
        <p:spPr>
          <a:xfrm>
            <a:off x="502920" y="1389888"/>
            <a:ext cx="8229600" cy="0"/>
          </a:xfrm>
          <a:prstGeom prst="straightConnector1">
            <a:avLst/>
          </a:prstGeom>
          <a:noFill/>
          <a:ln cap="flat" cmpd="sng" w="15225">
            <a:solidFill>
              <a:srgbClr val="0C9DA5">
                <a:alpha val="74901"/>
              </a:srgbClr>
            </a:solidFill>
            <a:prstDash val="solid"/>
            <a:round/>
            <a:headEnd len="sm" w="sm" type="none"/>
            <a:tailEnd len="sm" w="sm" type="none"/>
          </a:ln>
        </p:spPr>
      </p:cxnSp>
      <p:sp>
        <p:nvSpPr>
          <p:cNvPr id="59" name="Google Shape;59;p5"/>
          <p:cNvSpPr/>
          <p:nvPr/>
        </p:nvSpPr>
        <p:spPr>
          <a:xfrm>
            <a:off x="530352" y="1700784"/>
            <a:ext cx="2834640" cy="2834640"/>
          </a:xfrm>
          <a:prstGeom prst="roundRect">
            <a:avLst>
              <a:gd fmla="val 1613" name="adj"/>
            </a:avLst>
          </a:prstGeom>
          <a:solidFill>
            <a:srgbClr val="EAF2F8"/>
          </a:solidFill>
          <a:ln cap="flat" cmpd="sng" w="12700">
            <a:solidFill>
              <a:srgbClr val="D7DDE4"/>
            </a:solidFill>
            <a:prstDash val="solid"/>
            <a:round/>
            <a:headEnd len="sm" w="sm" type="none"/>
            <a:tailEnd len="sm" w="sm" type="none"/>
          </a:ln>
          <a:effectLst>
            <a:outerShdw blurRad="12700" rotWithShape="0" algn="bl" dir="2700000" dist="127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 name="Google Shape;60;p5"/>
          <p:cNvSpPr/>
          <p:nvPr/>
        </p:nvSpPr>
        <p:spPr>
          <a:xfrm>
            <a:off x="676656" y="1810512"/>
            <a:ext cx="254203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1400"/>
              <a:buFont typeface="Georgia"/>
              <a:buNone/>
            </a:pPr>
            <a:r>
              <a:rPr b="1" lang="en-US" sz="1400">
                <a:solidFill>
                  <a:srgbClr val="0F2747"/>
                </a:solidFill>
                <a:latin typeface="Georgia"/>
                <a:ea typeface="Georgia"/>
                <a:cs typeface="Georgia"/>
                <a:sym typeface="Georgia"/>
              </a:rPr>
              <a:t>Three source streams</a:t>
            </a:r>
            <a:endParaRPr sz="1400">
              <a:solidFill>
                <a:schemeClr val="dk1"/>
              </a:solidFill>
              <a:latin typeface="Calibri"/>
              <a:ea typeface="Calibri"/>
              <a:cs typeface="Calibri"/>
              <a:sym typeface="Calibri"/>
            </a:endParaRPr>
          </a:p>
        </p:txBody>
      </p:sp>
      <p:sp>
        <p:nvSpPr>
          <p:cNvPr id="61" name="Google Shape;61;p5"/>
          <p:cNvSpPr/>
          <p:nvPr/>
        </p:nvSpPr>
        <p:spPr>
          <a:xfrm>
            <a:off x="694944" y="2084832"/>
            <a:ext cx="2505456" cy="2359152"/>
          </a:xfrm>
          <a:prstGeom prst="rect">
            <a:avLst/>
          </a:prstGeom>
          <a:noFill/>
          <a:ln>
            <a:noFill/>
          </a:ln>
        </p:spPr>
        <p:txBody>
          <a:bodyPr anchorCtr="0" anchor="ctr" bIns="0" lIns="0" spcFirstLastPara="1" rIns="0" wrap="square" tIns="0">
            <a:noAutofit/>
          </a:bodyPr>
          <a:lstStyle/>
          <a:p>
            <a:pPr indent="-177800" lvl="0" marL="177800" marR="0" rtl="0" algn="l">
              <a:spcBef>
                <a:spcPts val="0"/>
              </a:spcBef>
              <a:spcAft>
                <a:spcPts val="0"/>
              </a:spcAft>
              <a:buClr>
                <a:srgbClr val="243447"/>
              </a:buClr>
              <a:buSzPts val="1200"/>
              <a:buFont typeface="Calibri"/>
              <a:buChar char="•"/>
            </a:pPr>
            <a:r>
              <a:rPr lang="en-US" sz="1200">
                <a:solidFill>
                  <a:srgbClr val="243447"/>
                </a:solidFill>
                <a:latin typeface="Calibri"/>
                <a:ea typeface="Calibri"/>
                <a:cs typeface="Calibri"/>
                <a:sym typeface="Calibri"/>
              </a:rPr>
              <a:t>Michigan consumer sentiment from FRED</a:t>
            </a:r>
            <a:endParaRPr sz="1200">
              <a:solidFill>
                <a:schemeClr val="dk1"/>
              </a:solidFill>
              <a:latin typeface="Calibri"/>
              <a:ea typeface="Calibri"/>
              <a:cs typeface="Calibri"/>
              <a:sym typeface="Calibri"/>
            </a:endParaRPr>
          </a:p>
          <a:p>
            <a:pPr indent="-177800" lvl="0" marL="177800" marR="0" rtl="0" algn="l">
              <a:spcBef>
                <a:spcPts val="0"/>
              </a:spcBef>
              <a:spcAft>
                <a:spcPts val="0"/>
              </a:spcAft>
              <a:buClr>
                <a:srgbClr val="243447"/>
              </a:buClr>
              <a:buSzPts val="1200"/>
              <a:buFont typeface="Calibri"/>
              <a:buChar char="•"/>
            </a:pPr>
            <a:r>
              <a:rPr lang="en-US" sz="1200">
                <a:solidFill>
                  <a:srgbClr val="243447"/>
                </a:solidFill>
                <a:latin typeface="Calibri"/>
                <a:ea typeface="Calibri"/>
                <a:cs typeface="Calibri"/>
                <a:sym typeface="Calibri"/>
              </a:rPr>
              <a:t>AAII weekly investor sentiment, manually collected</a:t>
            </a:r>
            <a:endParaRPr sz="1200">
              <a:solidFill>
                <a:schemeClr val="dk1"/>
              </a:solidFill>
              <a:latin typeface="Calibri"/>
              <a:ea typeface="Calibri"/>
              <a:cs typeface="Calibri"/>
              <a:sym typeface="Calibri"/>
            </a:endParaRPr>
          </a:p>
          <a:p>
            <a:pPr indent="-177800" lvl="0" marL="177800" marR="0" rtl="0" algn="l">
              <a:spcBef>
                <a:spcPts val="0"/>
              </a:spcBef>
              <a:spcAft>
                <a:spcPts val="0"/>
              </a:spcAft>
              <a:buClr>
                <a:srgbClr val="243447"/>
              </a:buClr>
              <a:buSzPts val="1200"/>
              <a:buFont typeface="Calibri"/>
              <a:buChar char="•"/>
            </a:pPr>
            <a:r>
              <a:rPr lang="en-US" sz="1200">
                <a:solidFill>
                  <a:srgbClr val="243447"/>
                </a:solidFill>
                <a:latin typeface="Calibri"/>
                <a:ea typeface="Calibri"/>
                <a:cs typeface="Calibri"/>
                <a:sym typeface="Calibri"/>
              </a:rPr>
              <a:t>Kenneth R. French factor data for market controls</a:t>
            </a:r>
            <a:endParaRPr sz="1200">
              <a:solidFill>
                <a:schemeClr val="dk1"/>
              </a:solidFill>
              <a:latin typeface="Calibri"/>
              <a:ea typeface="Calibri"/>
              <a:cs typeface="Calibri"/>
              <a:sym typeface="Calibri"/>
            </a:endParaRPr>
          </a:p>
        </p:txBody>
      </p:sp>
      <p:pic>
        <p:nvPicPr>
          <p:cNvPr descr="/workspaces/qm2023-capstone-2nd-row-team/results/figures/final_panel_overview.png" id="62" name="Google Shape;62;p5"/>
          <p:cNvPicPr preferRelativeResize="0"/>
          <p:nvPr/>
        </p:nvPicPr>
        <p:blipFill rotWithShape="1">
          <a:blip r:embed="rId3">
            <a:alphaModFix/>
          </a:blip>
          <a:srcRect b="0" l="0" r="0" t="0"/>
          <a:stretch/>
        </p:blipFill>
        <p:spPr>
          <a:xfrm>
            <a:off x="3611880" y="1700784"/>
            <a:ext cx="4983480" cy="2834640"/>
          </a:xfrm>
          <a:prstGeom prst="rect">
            <a:avLst/>
          </a:prstGeom>
          <a:noFill/>
          <a:ln>
            <a:noFill/>
          </a:ln>
        </p:spPr>
      </p:pic>
      <p:sp>
        <p:nvSpPr>
          <p:cNvPr id="63" name="Google Shape;63;p5"/>
          <p:cNvSpPr/>
          <p:nvPr/>
        </p:nvSpPr>
        <p:spPr>
          <a:xfrm>
            <a:off x="566928" y="4663440"/>
            <a:ext cx="1143000" cy="749808"/>
          </a:xfrm>
          <a:prstGeom prst="roundRect">
            <a:avLst>
              <a:gd fmla="val 9756" name="adj"/>
            </a:avLst>
          </a:prstGeom>
          <a:solidFill>
            <a:srgbClr val="E6F7F6"/>
          </a:solidFill>
          <a:ln cap="flat" cmpd="sng" w="12700">
            <a:solidFill>
              <a:srgbClr val="E6F7F6">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 name="Google Shape;64;p5"/>
          <p:cNvSpPr/>
          <p:nvPr/>
        </p:nvSpPr>
        <p:spPr>
          <a:xfrm>
            <a:off x="640080" y="4773168"/>
            <a:ext cx="996696"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747"/>
              </a:buClr>
              <a:buSzPts val="2400"/>
              <a:buFont typeface="Georgia"/>
              <a:buNone/>
            </a:pPr>
            <a:r>
              <a:rPr b="1" lang="en-US" sz="2400">
                <a:solidFill>
                  <a:srgbClr val="0F2747"/>
                </a:solidFill>
                <a:latin typeface="Georgia"/>
                <a:ea typeface="Georgia"/>
                <a:cs typeface="Georgia"/>
                <a:sym typeface="Georgia"/>
              </a:rPr>
              <a:t>0</a:t>
            </a:r>
            <a:endParaRPr sz="2400">
              <a:solidFill>
                <a:schemeClr val="dk1"/>
              </a:solidFill>
              <a:latin typeface="Calibri"/>
              <a:ea typeface="Calibri"/>
              <a:cs typeface="Calibri"/>
              <a:sym typeface="Calibri"/>
            </a:endParaRPr>
          </a:p>
        </p:txBody>
      </p:sp>
      <p:sp>
        <p:nvSpPr>
          <p:cNvPr id="65" name="Google Shape;65;p5"/>
          <p:cNvSpPr/>
          <p:nvPr/>
        </p:nvSpPr>
        <p:spPr>
          <a:xfrm>
            <a:off x="658368" y="5212080"/>
            <a:ext cx="96012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C7A89"/>
              </a:buClr>
              <a:buSzPts val="1100"/>
              <a:buFont typeface="Calibri"/>
              <a:buNone/>
            </a:pPr>
            <a:r>
              <a:rPr lang="en-US" sz="1100">
                <a:solidFill>
                  <a:srgbClr val="6C7A89"/>
                </a:solidFill>
                <a:latin typeface="Calibri"/>
                <a:ea typeface="Calibri"/>
                <a:cs typeface="Calibri"/>
                <a:sym typeface="Calibri"/>
              </a:rPr>
              <a:t>missing cells</a:t>
            </a:r>
            <a:endParaRPr sz="1100">
              <a:solidFill>
                <a:schemeClr val="dk1"/>
              </a:solidFill>
              <a:latin typeface="Calibri"/>
              <a:ea typeface="Calibri"/>
              <a:cs typeface="Calibri"/>
              <a:sym typeface="Calibri"/>
            </a:endParaRPr>
          </a:p>
        </p:txBody>
      </p:sp>
      <p:sp>
        <p:nvSpPr>
          <p:cNvPr id="66" name="Google Shape;66;p5"/>
          <p:cNvSpPr/>
          <p:nvPr/>
        </p:nvSpPr>
        <p:spPr>
          <a:xfrm>
            <a:off x="1783080" y="4663440"/>
            <a:ext cx="1417320" cy="749808"/>
          </a:xfrm>
          <a:prstGeom prst="roundRect">
            <a:avLst>
              <a:gd fmla="val 9756" name="adj"/>
            </a:avLst>
          </a:prstGeom>
          <a:solidFill>
            <a:srgbClr val="FFF3D6"/>
          </a:solidFill>
          <a:ln cap="flat" cmpd="sng" w="12700">
            <a:solidFill>
              <a:srgbClr val="FFF3D6">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 name="Google Shape;67;p5"/>
          <p:cNvSpPr/>
          <p:nvPr/>
        </p:nvSpPr>
        <p:spPr>
          <a:xfrm>
            <a:off x="1856232" y="4773168"/>
            <a:ext cx="1271016"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747"/>
              </a:buClr>
              <a:buSzPts val="1800"/>
              <a:buFont typeface="Georgia"/>
              <a:buNone/>
            </a:pPr>
            <a:r>
              <a:rPr b="1" lang="en-US" sz="1800">
                <a:solidFill>
                  <a:srgbClr val="0F2747"/>
                </a:solidFill>
                <a:latin typeface="Georgia"/>
                <a:ea typeface="Georgia"/>
                <a:cs typeface="Georgia"/>
                <a:sym typeface="Georgia"/>
              </a:rPr>
              <a:t>2004-</a:t>
            </a:r>
            <a:endParaRPr b="1" sz="1800">
              <a:solidFill>
                <a:srgbClr val="0F2747"/>
              </a:solidFill>
              <a:latin typeface="Georgia"/>
              <a:ea typeface="Georgia"/>
              <a:cs typeface="Georgia"/>
              <a:sym typeface="Georgia"/>
            </a:endParaRPr>
          </a:p>
          <a:p>
            <a:pPr indent="0" lvl="0" marL="0" marR="0" rtl="0" algn="ctr">
              <a:spcBef>
                <a:spcPts val="0"/>
              </a:spcBef>
              <a:spcAft>
                <a:spcPts val="0"/>
              </a:spcAft>
              <a:buClr>
                <a:srgbClr val="0F2747"/>
              </a:buClr>
              <a:buSzPts val="1800"/>
              <a:buFont typeface="Georgia"/>
              <a:buNone/>
            </a:pPr>
            <a:r>
              <a:rPr b="1" lang="en-US" sz="1800">
                <a:solidFill>
                  <a:srgbClr val="0F2747"/>
                </a:solidFill>
                <a:latin typeface="Georgia"/>
                <a:ea typeface="Georgia"/>
                <a:cs typeface="Georgia"/>
                <a:sym typeface="Georgia"/>
              </a:rPr>
              <a:t>2024</a:t>
            </a:r>
            <a:endParaRPr sz="1800">
              <a:solidFill>
                <a:schemeClr val="dk1"/>
              </a:solidFill>
              <a:latin typeface="Calibri"/>
              <a:ea typeface="Calibri"/>
              <a:cs typeface="Calibri"/>
              <a:sym typeface="Calibri"/>
            </a:endParaRPr>
          </a:p>
        </p:txBody>
      </p:sp>
      <p:sp>
        <p:nvSpPr>
          <p:cNvPr id="68" name="Google Shape;68;p5"/>
          <p:cNvSpPr/>
          <p:nvPr/>
        </p:nvSpPr>
        <p:spPr>
          <a:xfrm>
            <a:off x="1874520" y="5212080"/>
            <a:ext cx="123444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C7A89"/>
              </a:buClr>
              <a:buSzPts val="1100"/>
              <a:buFont typeface="Calibri"/>
              <a:buNone/>
            </a:pPr>
            <a:r>
              <a:rPr lang="en-US" sz="1100">
                <a:solidFill>
                  <a:srgbClr val="6C7A89"/>
                </a:solidFill>
                <a:latin typeface="Calibri"/>
                <a:ea typeface="Calibri"/>
                <a:cs typeface="Calibri"/>
                <a:sym typeface="Calibri"/>
              </a:rPr>
              <a:t>analysis window</a:t>
            </a:r>
            <a:endParaRPr sz="1100">
              <a:solidFill>
                <a:schemeClr val="dk1"/>
              </a:solidFill>
              <a:latin typeface="Calibri"/>
              <a:ea typeface="Calibri"/>
              <a:cs typeface="Calibri"/>
              <a:sym typeface="Calibri"/>
            </a:endParaRPr>
          </a:p>
        </p:txBody>
      </p:sp>
      <p:sp>
        <p:nvSpPr>
          <p:cNvPr id="69" name="Google Shape;69;p5"/>
          <p:cNvSpPr/>
          <p:nvPr/>
        </p:nvSpPr>
        <p:spPr>
          <a:xfrm>
            <a:off x="3337560" y="4663440"/>
            <a:ext cx="1371600" cy="749808"/>
          </a:xfrm>
          <a:prstGeom prst="roundRect">
            <a:avLst>
              <a:gd fmla="val 9756" name="adj"/>
            </a:avLst>
          </a:prstGeom>
          <a:solidFill>
            <a:srgbClr val="EAF2F8"/>
          </a:solidFill>
          <a:ln cap="flat" cmpd="sng" w="12700">
            <a:solidFill>
              <a:srgbClr val="EAF2F8">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 name="Google Shape;70;p5"/>
          <p:cNvSpPr/>
          <p:nvPr/>
        </p:nvSpPr>
        <p:spPr>
          <a:xfrm>
            <a:off x="3410712" y="4773168"/>
            <a:ext cx="1225296"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747"/>
              </a:buClr>
              <a:buSzPts val="1800"/>
              <a:buFont typeface="Georgia"/>
              <a:buNone/>
            </a:pPr>
            <a:r>
              <a:rPr b="1" lang="en-US" sz="1800">
                <a:solidFill>
                  <a:srgbClr val="0F2747"/>
                </a:solidFill>
                <a:latin typeface="Georgia"/>
                <a:ea typeface="Georgia"/>
                <a:cs typeface="Georgia"/>
                <a:sym typeface="Georgia"/>
              </a:rPr>
              <a:t>Month-</a:t>
            </a:r>
            <a:endParaRPr b="1" sz="1800">
              <a:solidFill>
                <a:srgbClr val="0F2747"/>
              </a:solidFill>
              <a:latin typeface="Georgia"/>
              <a:ea typeface="Georgia"/>
              <a:cs typeface="Georgia"/>
              <a:sym typeface="Georgia"/>
            </a:endParaRPr>
          </a:p>
          <a:p>
            <a:pPr indent="0" lvl="0" marL="0" marR="0" rtl="0" algn="ctr">
              <a:spcBef>
                <a:spcPts val="0"/>
              </a:spcBef>
              <a:spcAft>
                <a:spcPts val="0"/>
              </a:spcAft>
              <a:buClr>
                <a:srgbClr val="0F2747"/>
              </a:buClr>
              <a:buSzPts val="1800"/>
              <a:buFont typeface="Georgia"/>
              <a:buNone/>
            </a:pPr>
            <a:r>
              <a:rPr b="1" lang="en-US" sz="1800">
                <a:solidFill>
                  <a:srgbClr val="0F2747"/>
                </a:solidFill>
                <a:latin typeface="Georgia"/>
                <a:ea typeface="Georgia"/>
                <a:cs typeface="Georgia"/>
                <a:sym typeface="Georgia"/>
              </a:rPr>
              <a:t>end</a:t>
            </a:r>
            <a:endParaRPr sz="1800">
              <a:solidFill>
                <a:schemeClr val="dk1"/>
              </a:solidFill>
              <a:latin typeface="Calibri"/>
              <a:ea typeface="Calibri"/>
              <a:cs typeface="Calibri"/>
              <a:sym typeface="Calibri"/>
            </a:endParaRPr>
          </a:p>
        </p:txBody>
      </p:sp>
      <p:sp>
        <p:nvSpPr>
          <p:cNvPr id="71" name="Google Shape;71;p5"/>
          <p:cNvSpPr/>
          <p:nvPr/>
        </p:nvSpPr>
        <p:spPr>
          <a:xfrm>
            <a:off x="3429000" y="5212080"/>
            <a:ext cx="118872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C7A89"/>
              </a:buClr>
              <a:buSzPts val="1100"/>
              <a:buFont typeface="Calibri"/>
              <a:buNone/>
            </a:pPr>
            <a:r>
              <a:rPr lang="en-US" sz="1100">
                <a:solidFill>
                  <a:srgbClr val="6C7A89"/>
                </a:solidFill>
                <a:latin typeface="Calibri"/>
                <a:ea typeface="Calibri"/>
                <a:cs typeface="Calibri"/>
                <a:sym typeface="Calibri"/>
              </a:rPr>
              <a:t>alignment rule</a:t>
            </a:r>
            <a:endParaRPr sz="1100">
              <a:solidFill>
                <a:schemeClr val="dk1"/>
              </a:solidFill>
              <a:latin typeface="Calibri"/>
              <a:ea typeface="Calibri"/>
              <a:cs typeface="Calibri"/>
              <a:sym typeface="Calibri"/>
            </a:endParaRPr>
          </a:p>
        </p:txBody>
      </p:sp>
      <p:sp>
        <p:nvSpPr>
          <p:cNvPr id="72" name="Google Shape;72;p5"/>
          <p:cNvSpPr/>
          <p:nvPr/>
        </p:nvSpPr>
        <p:spPr>
          <a:xfrm>
            <a:off x="4892050" y="4764024"/>
            <a:ext cx="36576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447"/>
              </a:buClr>
              <a:buSzPts val="1150"/>
              <a:buFont typeface="Calibri"/>
              <a:buNone/>
            </a:pPr>
            <a:r>
              <a:rPr lang="en-US" sz="1150">
                <a:solidFill>
                  <a:srgbClr val="243447"/>
                </a:solidFill>
                <a:latin typeface="Calibri"/>
                <a:ea typeface="Calibri"/>
                <a:cs typeface="Calibri"/>
                <a:sym typeface="Calibri"/>
              </a:rPr>
              <a:t>Why month-end matters: it aligns investor mood with pricing horizons and avoids smoothing away the last signal in the month.</a:t>
            </a:r>
            <a:endParaRPr sz="1150">
              <a:solidFill>
                <a:schemeClr val="dk1"/>
              </a:solidFill>
              <a:latin typeface="Calibri"/>
              <a:ea typeface="Calibri"/>
              <a:cs typeface="Calibri"/>
              <a:sym typeface="Calibri"/>
            </a:endParaRPr>
          </a:p>
        </p:txBody>
      </p:sp>
      <p:sp>
        <p:nvSpPr>
          <p:cNvPr id="73" name="Google Shape;73;p5"/>
          <p:cNvSpPr/>
          <p:nvPr/>
        </p:nvSpPr>
        <p:spPr>
          <a:xfrm>
            <a:off x="7635240" y="6446520"/>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C7A89"/>
              </a:buClr>
              <a:buSzPts val="900"/>
              <a:buFont typeface="Calibri"/>
              <a:buNone/>
            </a:pPr>
            <a:r>
              <a:rPr lang="en-US" sz="900">
                <a:solidFill>
                  <a:srgbClr val="6C7A89"/>
                </a:solidFill>
                <a:latin typeface="Calibri"/>
                <a:ea typeface="Calibri"/>
                <a:cs typeface="Calibri"/>
                <a:sym typeface="Calibri"/>
              </a:rPr>
              <a:t>2nd Row Team | 3/10</a:t>
            </a:r>
            <a:endParaRPr sz="9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1E8"/>
        </a:solidFill>
      </p:bgPr>
    </p:bg>
    <p:spTree>
      <p:nvGrpSpPr>
        <p:cNvPr id="78" name="Shape 78"/>
        <p:cNvGrpSpPr/>
        <p:nvPr/>
      </p:nvGrpSpPr>
      <p:grpSpPr>
        <a:xfrm>
          <a:off x="0" y="0"/>
          <a:ext cx="0" cy="0"/>
          <a:chOff x="0" y="0"/>
          <a:chExt cx="0" cy="0"/>
        </a:xfrm>
      </p:grpSpPr>
      <p:sp>
        <p:nvSpPr>
          <p:cNvPr id="79" name="Google Shape;79;p6"/>
          <p:cNvSpPr/>
          <p:nvPr/>
        </p:nvSpPr>
        <p:spPr>
          <a:xfrm>
            <a:off x="502920" y="365760"/>
            <a:ext cx="1920240" cy="310896"/>
          </a:xfrm>
          <a:prstGeom prst="roundRect">
            <a:avLst>
              <a:gd fmla="val 16667" name="adj"/>
            </a:avLst>
          </a:prstGeom>
          <a:solidFill>
            <a:srgbClr val="E6F7F6"/>
          </a:solidFill>
          <a:ln cap="flat" cmpd="sng" w="9525">
            <a:solidFill>
              <a:srgbClr val="E6F7F6">
                <a:alpha val="0"/>
              </a:srgbClr>
            </a:solidFill>
            <a:prstDash val="solid"/>
            <a:round/>
            <a:headEnd len="sm" w="sm" type="none"/>
            <a:tailEnd len="sm" w="sm" type="none"/>
          </a:ln>
        </p:spPr>
        <p:txBody>
          <a:bodyPr anchorCtr="0" anchor="ctr" bIns="750" lIns="750" spcFirstLastPara="1" rIns="750" wrap="square" tIns="750">
            <a:noAutofit/>
          </a:bodyPr>
          <a:lstStyle/>
          <a:p>
            <a:pPr indent="0" lvl="0" marL="0" marR="0" rtl="0" algn="ctr">
              <a:spcBef>
                <a:spcPts val="0"/>
              </a:spcBef>
              <a:spcAft>
                <a:spcPts val="0"/>
              </a:spcAft>
              <a:buClr>
                <a:srgbClr val="0C9DA5"/>
              </a:buClr>
              <a:buSzPts val="1100"/>
              <a:buFont typeface="Calibri"/>
              <a:buNone/>
            </a:pPr>
            <a:r>
              <a:rPr b="1" lang="en-US" sz="1100">
                <a:solidFill>
                  <a:srgbClr val="0C9DA5"/>
                </a:solidFill>
                <a:latin typeface="Calibri"/>
                <a:ea typeface="Calibri"/>
                <a:cs typeface="Calibri"/>
                <a:sym typeface="Calibri"/>
              </a:rPr>
              <a:t>Exploratory analysis</a:t>
            </a:r>
            <a:endParaRPr sz="1100">
              <a:solidFill>
                <a:schemeClr val="dk1"/>
              </a:solidFill>
              <a:latin typeface="Calibri"/>
              <a:ea typeface="Calibri"/>
              <a:cs typeface="Calibri"/>
              <a:sym typeface="Calibri"/>
            </a:endParaRPr>
          </a:p>
        </p:txBody>
      </p:sp>
      <p:sp>
        <p:nvSpPr>
          <p:cNvPr id="80" name="Google Shape;80;p6"/>
          <p:cNvSpPr/>
          <p:nvPr/>
        </p:nvSpPr>
        <p:spPr>
          <a:xfrm>
            <a:off x="502920" y="749808"/>
            <a:ext cx="7863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2400"/>
              <a:buFont typeface="Georgia"/>
              <a:buNone/>
            </a:pPr>
            <a:r>
              <a:rPr b="1" lang="en-US" sz="2400">
                <a:solidFill>
                  <a:srgbClr val="0F2747"/>
                </a:solidFill>
                <a:latin typeface="Georgia"/>
                <a:ea typeface="Georgia"/>
                <a:cs typeface="Georgia"/>
                <a:sym typeface="Georgia"/>
              </a:rPr>
              <a:t>M2: The EDA pointed to a short-run sentiment channel</a:t>
            </a:r>
            <a:endParaRPr sz="2400">
              <a:solidFill>
                <a:schemeClr val="dk1"/>
              </a:solidFill>
              <a:latin typeface="Calibri"/>
              <a:ea typeface="Calibri"/>
              <a:cs typeface="Calibri"/>
              <a:sym typeface="Calibri"/>
            </a:endParaRPr>
          </a:p>
        </p:txBody>
      </p:sp>
      <p:cxnSp>
        <p:nvCxnSpPr>
          <p:cNvPr id="81" name="Google Shape;81;p6"/>
          <p:cNvCxnSpPr/>
          <p:nvPr/>
        </p:nvCxnSpPr>
        <p:spPr>
          <a:xfrm>
            <a:off x="502920" y="1389888"/>
            <a:ext cx="8229600" cy="0"/>
          </a:xfrm>
          <a:prstGeom prst="straightConnector1">
            <a:avLst/>
          </a:prstGeom>
          <a:noFill/>
          <a:ln cap="flat" cmpd="sng" w="15225">
            <a:solidFill>
              <a:srgbClr val="0C9DA5">
                <a:alpha val="74901"/>
              </a:srgbClr>
            </a:solidFill>
            <a:prstDash val="solid"/>
            <a:round/>
            <a:headEnd len="sm" w="sm" type="none"/>
            <a:tailEnd len="sm" w="sm" type="none"/>
          </a:ln>
        </p:spPr>
      </p:cxnSp>
      <p:pic>
        <p:nvPicPr>
          <p:cNvPr descr="/workspaces/qm2023-capstone-2nd-row-team/results/figures/M2_01_correlation_heatmap.png" id="82" name="Google Shape;82;p6"/>
          <p:cNvPicPr preferRelativeResize="0"/>
          <p:nvPr/>
        </p:nvPicPr>
        <p:blipFill rotWithShape="1">
          <a:blip r:embed="rId3">
            <a:alphaModFix/>
          </a:blip>
          <a:srcRect b="0" l="0" r="0" t="0"/>
          <a:stretch/>
        </p:blipFill>
        <p:spPr>
          <a:xfrm>
            <a:off x="502920" y="1691640"/>
            <a:ext cx="3931920" cy="2926080"/>
          </a:xfrm>
          <a:prstGeom prst="rect">
            <a:avLst/>
          </a:prstGeom>
          <a:noFill/>
          <a:ln>
            <a:noFill/>
          </a:ln>
        </p:spPr>
      </p:pic>
      <p:sp>
        <p:nvSpPr>
          <p:cNvPr id="83" name="Google Shape;83;p6"/>
          <p:cNvSpPr/>
          <p:nvPr/>
        </p:nvSpPr>
        <p:spPr>
          <a:xfrm>
            <a:off x="4572000" y="1691640"/>
            <a:ext cx="4069080" cy="914400"/>
          </a:xfrm>
          <a:prstGeom prst="roundRect">
            <a:avLst>
              <a:gd fmla="val 8000" name="adj"/>
            </a:avLst>
          </a:prstGeom>
          <a:solidFill>
            <a:srgbClr val="FFFFFF"/>
          </a:solidFill>
          <a:ln cap="flat" cmpd="sng" w="12700">
            <a:solidFill>
              <a:srgbClr val="D7DDE4">
                <a:alpha val="0"/>
              </a:srgbClr>
            </a:solidFill>
            <a:prstDash val="solid"/>
            <a:round/>
            <a:headEnd len="sm" w="sm" type="none"/>
            <a:tailEnd len="sm" w="sm" type="none"/>
          </a:ln>
          <a:effectLst>
            <a:outerShdw blurRad="25400" rotWithShape="0" algn="bl" dir="2700000" dist="127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 name="Google Shape;84;p6"/>
          <p:cNvSpPr/>
          <p:nvPr/>
        </p:nvSpPr>
        <p:spPr>
          <a:xfrm>
            <a:off x="4736592" y="1819656"/>
            <a:ext cx="37398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1500"/>
              <a:buFont typeface="Georgia"/>
              <a:buNone/>
            </a:pPr>
            <a:r>
              <a:rPr b="1" lang="en-US" sz="1500">
                <a:solidFill>
                  <a:srgbClr val="0F2747"/>
                </a:solidFill>
                <a:latin typeface="Georgia"/>
                <a:ea typeface="Georgia"/>
                <a:cs typeface="Georgia"/>
                <a:sym typeface="Georgia"/>
              </a:rPr>
              <a:t>Headline correlation</a:t>
            </a:r>
            <a:endParaRPr sz="1500">
              <a:solidFill>
                <a:schemeClr val="dk1"/>
              </a:solidFill>
              <a:latin typeface="Calibri"/>
              <a:ea typeface="Calibri"/>
              <a:cs typeface="Calibri"/>
              <a:sym typeface="Calibri"/>
            </a:endParaRPr>
          </a:p>
        </p:txBody>
      </p:sp>
      <p:sp>
        <p:nvSpPr>
          <p:cNvPr id="85" name="Google Shape;85;p6"/>
          <p:cNvSpPr/>
          <p:nvPr/>
        </p:nvSpPr>
        <p:spPr>
          <a:xfrm>
            <a:off x="4736592" y="2112264"/>
            <a:ext cx="3739896"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3447"/>
              </a:buClr>
              <a:buSzPts val="1200"/>
              <a:buFont typeface="Calibri"/>
              <a:buNone/>
            </a:pPr>
            <a:r>
              <a:rPr lang="en-US" sz="1200">
                <a:solidFill>
                  <a:srgbClr val="243447"/>
                </a:solidFill>
                <a:latin typeface="Calibri"/>
                <a:ea typeface="Calibri"/>
                <a:cs typeface="Calibri"/>
                <a:sym typeface="Calibri"/>
              </a:rPr>
              <a:t>Market returns correlate weakly with Michigan sentiment (0.029) but more strongly with AAII bull-bear spread (0.461).</a:t>
            </a:r>
            <a:endParaRPr sz="1200">
              <a:solidFill>
                <a:schemeClr val="dk1"/>
              </a:solidFill>
              <a:latin typeface="Calibri"/>
              <a:ea typeface="Calibri"/>
              <a:cs typeface="Calibri"/>
              <a:sym typeface="Calibri"/>
            </a:endParaRPr>
          </a:p>
        </p:txBody>
      </p:sp>
      <p:sp>
        <p:nvSpPr>
          <p:cNvPr id="86" name="Google Shape;86;p6"/>
          <p:cNvSpPr/>
          <p:nvPr/>
        </p:nvSpPr>
        <p:spPr>
          <a:xfrm>
            <a:off x="4572000" y="2743200"/>
            <a:ext cx="4069080" cy="868680"/>
          </a:xfrm>
          <a:prstGeom prst="roundRect">
            <a:avLst>
              <a:gd fmla="val 8421" name="adj"/>
            </a:avLst>
          </a:prstGeom>
          <a:solidFill>
            <a:srgbClr val="E6F7F6"/>
          </a:solidFill>
          <a:ln cap="flat" cmpd="sng" w="12700">
            <a:solidFill>
              <a:srgbClr val="E6F7F6">
                <a:alpha val="0"/>
              </a:srgbClr>
            </a:solidFill>
            <a:prstDash val="solid"/>
            <a:round/>
            <a:headEnd len="sm" w="sm" type="none"/>
            <a:tailEnd len="sm" w="sm" type="none"/>
          </a:ln>
          <a:effectLst>
            <a:outerShdw blurRad="25400" rotWithShape="0" algn="bl" dir="2700000" dist="127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 name="Google Shape;87;p6"/>
          <p:cNvSpPr/>
          <p:nvPr/>
        </p:nvSpPr>
        <p:spPr>
          <a:xfrm>
            <a:off x="4736592" y="2871216"/>
            <a:ext cx="37398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1500"/>
              <a:buFont typeface="Georgia"/>
              <a:buNone/>
            </a:pPr>
            <a:r>
              <a:rPr b="1" lang="en-US" sz="1500">
                <a:solidFill>
                  <a:srgbClr val="0F2747"/>
                </a:solidFill>
                <a:latin typeface="Georgia"/>
                <a:ea typeface="Georgia"/>
                <a:cs typeface="Georgia"/>
                <a:sym typeface="Georgia"/>
              </a:rPr>
              <a:t>Lag structure</a:t>
            </a:r>
            <a:endParaRPr sz="1500">
              <a:solidFill>
                <a:schemeClr val="dk1"/>
              </a:solidFill>
              <a:latin typeface="Calibri"/>
              <a:ea typeface="Calibri"/>
              <a:cs typeface="Calibri"/>
              <a:sym typeface="Calibri"/>
            </a:endParaRPr>
          </a:p>
        </p:txBody>
      </p:sp>
      <p:sp>
        <p:nvSpPr>
          <p:cNvPr id="88" name="Google Shape;88;p6"/>
          <p:cNvSpPr/>
          <p:nvPr/>
        </p:nvSpPr>
        <p:spPr>
          <a:xfrm>
            <a:off x="4736592" y="3163824"/>
            <a:ext cx="3739896" cy="3383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3447"/>
              </a:buClr>
              <a:buSzPts val="1200"/>
              <a:buFont typeface="Calibri"/>
              <a:buNone/>
            </a:pPr>
            <a:r>
              <a:rPr lang="en-US" sz="1200">
                <a:solidFill>
                  <a:srgbClr val="243447"/>
                </a:solidFill>
                <a:latin typeface="Calibri"/>
                <a:ea typeface="Calibri"/>
                <a:cs typeface="Calibri"/>
                <a:sym typeface="Calibri"/>
              </a:rPr>
              <a:t>The largest lagged relationship appeared around 12 months, which justified testing lagged sentiment in M3.</a:t>
            </a:r>
            <a:endParaRPr sz="1200">
              <a:solidFill>
                <a:schemeClr val="dk1"/>
              </a:solidFill>
              <a:latin typeface="Calibri"/>
              <a:ea typeface="Calibri"/>
              <a:cs typeface="Calibri"/>
              <a:sym typeface="Calibri"/>
            </a:endParaRPr>
          </a:p>
        </p:txBody>
      </p:sp>
      <p:sp>
        <p:nvSpPr>
          <p:cNvPr id="89" name="Google Shape;89;p6"/>
          <p:cNvSpPr/>
          <p:nvPr/>
        </p:nvSpPr>
        <p:spPr>
          <a:xfrm>
            <a:off x="4572000" y="3730752"/>
            <a:ext cx="4069080" cy="868680"/>
          </a:xfrm>
          <a:prstGeom prst="roundRect">
            <a:avLst>
              <a:gd fmla="val 8421" name="adj"/>
            </a:avLst>
          </a:prstGeom>
          <a:solidFill>
            <a:srgbClr val="FFF3D6"/>
          </a:solidFill>
          <a:ln cap="flat" cmpd="sng" w="12700">
            <a:solidFill>
              <a:srgbClr val="FFF3D6">
                <a:alpha val="0"/>
              </a:srgbClr>
            </a:solidFill>
            <a:prstDash val="solid"/>
            <a:round/>
            <a:headEnd len="sm" w="sm" type="none"/>
            <a:tailEnd len="sm" w="sm" type="none"/>
          </a:ln>
          <a:effectLst>
            <a:outerShdw blurRad="25400" rotWithShape="0" algn="bl" dir="2700000" dist="127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 name="Google Shape;90;p6"/>
          <p:cNvSpPr/>
          <p:nvPr/>
        </p:nvSpPr>
        <p:spPr>
          <a:xfrm>
            <a:off x="4736592" y="3858768"/>
            <a:ext cx="37398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1500"/>
              <a:buFont typeface="Georgia"/>
              <a:buNone/>
            </a:pPr>
            <a:r>
              <a:rPr b="1" lang="en-US" sz="1500">
                <a:solidFill>
                  <a:srgbClr val="0F2747"/>
                </a:solidFill>
                <a:latin typeface="Georgia"/>
                <a:ea typeface="Georgia"/>
                <a:cs typeface="Georgia"/>
                <a:sym typeface="Georgia"/>
              </a:rPr>
              <a:t>Economic reading</a:t>
            </a:r>
            <a:endParaRPr sz="1500">
              <a:solidFill>
                <a:schemeClr val="dk1"/>
              </a:solidFill>
              <a:latin typeface="Calibri"/>
              <a:ea typeface="Calibri"/>
              <a:cs typeface="Calibri"/>
              <a:sym typeface="Calibri"/>
            </a:endParaRPr>
          </a:p>
        </p:txBody>
      </p:sp>
      <p:sp>
        <p:nvSpPr>
          <p:cNvPr id="91" name="Google Shape;91;p6"/>
          <p:cNvSpPr/>
          <p:nvPr/>
        </p:nvSpPr>
        <p:spPr>
          <a:xfrm>
            <a:off x="4736592" y="4151376"/>
            <a:ext cx="3739896" cy="3383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3447"/>
              </a:buClr>
              <a:buSzPts val="1200"/>
              <a:buFont typeface="Calibri"/>
              <a:buNone/>
            </a:pPr>
            <a:r>
              <a:rPr lang="en-US" sz="1200">
                <a:solidFill>
                  <a:srgbClr val="243447"/>
                </a:solidFill>
                <a:latin typeface="Calibri"/>
                <a:ea typeface="Calibri"/>
                <a:cs typeface="Calibri"/>
                <a:sym typeface="Calibri"/>
              </a:rPr>
              <a:t>Retail positioning seems to move faster than broad consumer confidence, especially near turning points.</a:t>
            </a:r>
            <a:endParaRPr sz="1200">
              <a:solidFill>
                <a:schemeClr val="dk1"/>
              </a:solidFill>
              <a:latin typeface="Calibri"/>
              <a:ea typeface="Calibri"/>
              <a:cs typeface="Calibri"/>
              <a:sym typeface="Calibri"/>
            </a:endParaRPr>
          </a:p>
        </p:txBody>
      </p:sp>
      <p:sp>
        <p:nvSpPr>
          <p:cNvPr id="92" name="Google Shape;92;p6"/>
          <p:cNvSpPr/>
          <p:nvPr/>
        </p:nvSpPr>
        <p:spPr>
          <a:xfrm>
            <a:off x="4572000" y="4754880"/>
            <a:ext cx="3931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A89"/>
              </a:buClr>
              <a:buSzPts val="1150"/>
              <a:buFont typeface="Calibri"/>
              <a:buNone/>
            </a:pPr>
            <a:r>
              <a:rPr i="1" lang="en-US" sz="1150">
                <a:solidFill>
                  <a:srgbClr val="6C7A89"/>
                </a:solidFill>
                <a:latin typeface="Calibri"/>
                <a:ea typeface="Calibri"/>
                <a:cs typeface="Calibri"/>
                <a:sym typeface="Calibri"/>
              </a:rPr>
              <a:t>Use sentiment as an indicator of market mood, but not as a one-variable forecast model.</a:t>
            </a:r>
            <a:endParaRPr sz="1150">
              <a:solidFill>
                <a:schemeClr val="dk1"/>
              </a:solidFill>
              <a:latin typeface="Calibri"/>
              <a:ea typeface="Calibri"/>
              <a:cs typeface="Calibri"/>
              <a:sym typeface="Calibri"/>
            </a:endParaRPr>
          </a:p>
        </p:txBody>
      </p:sp>
      <p:sp>
        <p:nvSpPr>
          <p:cNvPr id="93" name="Google Shape;93;p6"/>
          <p:cNvSpPr/>
          <p:nvPr/>
        </p:nvSpPr>
        <p:spPr>
          <a:xfrm>
            <a:off x="7635240" y="6446520"/>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C7A89"/>
              </a:buClr>
              <a:buSzPts val="900"/>
              <a:buFont typeface="Calibri"/>
              <a:buNone/>
            </a:pPr>
            <a:r>
              <a:rPr lang="en-US" sz="900">
                <a:solidFill>
                  <a:srgbClr val="6C7A89"/>
                </a:solidFill>
                <a:latin typeface="Calibri"/>
                <a:ea typeface="Calibri"/>
                <a:cs typeface="Calibri"/>
                <a:sym typeface="Calibri"/>
              </a:rPr>
              <a:t>2nd Row Team | 4/10</a:t>
            </a:r>
            <a:endParaRPr sz="9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 name="Shape 98"/>
        <p:cNvGrpSpPr/>
        <p:nvPr/>
      </p:nvGrpSpPr>
      <p:grpSpPr>
        <a:xfrm>
          <a:off x="0" y="0"/>
          <a:ext cx="0" cy="0"/>
          <a:chOff x="0" y="0"/>
          <a:chExt cx="0" cy="0"/>
        </a:xfrm>
      </p:grpSpPr>
      <p:sp>
        <p:nvSpPr>
          <p:cNvPr id="99" name="Google Shape;99;p7"/>
          <p:cNvSpPr/>
          <p:nvPr/>
        </p:nvSpPr>
        <p:spPr>
          <a:xfrm>
            <a:off x="502920" y="365760"/>
            <a:ext cx="2684780" cy="310896"/>
          </a:xfrm>
          <a:prstGeom prst="roundRect">
            <a:avLst>
              <a:gd fmla="val 16667" name="adj"/>
            </a:avLst>
          </a:prstGeom>
          <a:solidFill>
            <a:srgbClr val="E6F7F6"/>
          </a:solidFill>
          <a:ln cap="flat" cmpd="sng" w="9525">
            <a:solidFill>
              <a:srgbClr val="E6F7F6">
                <a:alpha val="0"/>
              </a:srgbClr>
            </a:solidFill>
            <a:prstDash val="solid"/>
            <a:round/>
            <a:headEnd len="sm" w="sm" type="none"/>
            <a:tailEnd len="sm" w="sm" type="none"/>
          </a:ln>
        </p:spPr>
        <p:txBody>
          <a:bodyPr anchorCtr="0" anchor="ctr" bIns="750" lIns="750" spcFirstLastPara="1" rIns="750" wrap="square" tIns="750">
            <a:noAutofit/>
          </a:bodyPr>
          <a:lstStyle/>
          <a:p>
            <a:pPr indent="0" lvl="0" marL="0" marR="0" rtl="0" algn="ctr">
              <a:spcBef>
                <a:spcPts val="0"/>
              </a:spcBef>
              <a:spcAft>
                <a:spcPts val="0"/>
              </a:spcAft>
              <a:buClr>
                <a:srgbClr val="0C9DA5"/>
              </a:buClr>
              <a:buSzPts val="1100"/>
              <a:buFont typeface="Calibri"/>
              <a:buNone/>
            </a:pPr>
            <a:r>
              <a:rPr b="1" lang="en-US" sz="1100">
                <a:solidFill>
                  <a:srgbClr val="0C9DA5"/>
                </a:solidFill>
                <a:latin typeface="Calibri"/>
                <a:ea typeface="Calibri"/>
                <a:cs typeface="Calibri"/>
                <a:sym typeface="Calibri"/>
              </a:rPr>
              <a:t>Regression failure that still mattered</a:t>
            </a:r>
            <a:endParaRPr sz="1100">
              <a:solidFill>
                <a:schemeClr val="dk1"/>
              </a:solidFill>
              <a:latin typeface="Calibri"/>
              <a:ea typeface="Calibri"/>
              <a:cs typeface="Calibri"/>
              <a:sym typeface="Calibri"/>
            </a:endParaRPr>
          </a:p>
        </p:txBody>
      </p:sp>
      <p:sp>
        <p:nvSpPr>
          <p:cNvPr id="100" name="Google Shape;100;p7"/>
          <p:cNvSpPr/>
          <p:nvPr/>
        </p:nvSpPr>
        <p:spPr>
          <a:xfrm>
            <a:off x="502920" y="749808"/>
            <a:ext cx="7863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2400"/>
              <a:buFont typeface="Georgia"/>
              <a:buNone/>
            </a:pPr>
            <a:r>
              <a:rPr b="1" lang="en-US" sz="2400">
                <a:solidFill>
                  <a:srgbClr val="0F2747"/>
                </a:solidFill>
                <a:latin typeface="Georgia"/>
                <a:ea typeface="Georgia"/>
                <a:cs typeface="Georgia"/>
                <a:sym typeface="Georgia"/>
              </a:rPr>
              <a:t>M3v1: The aggregate timing model did not produce stable alpha</a:t>
            </a:r>
            <a:endParaRPr sz="2400">
              <a:solidFill>
                <a:schemeClr val="dk1"/>
              </a:solidFill>
              <a:latin typeface="Calibri"/>
              <a:ea typeface="Calibri"/>
              <a:cs typeface="Calibri"/>
              <a:sym typeface="Calibri"/>
            </a:endParaRPr>
          </a:p>
        </p:txBody>
      </p:sp>
      <p:cxnSp>
        <p:nvCxnSpPr>
          <p:cNvPr id="101" name="Google Shape;101;p7"/>
          <p:cNvCxnSpPr/>
          <p:nvPr/>
        </p:nvCxnSpPr>
        <p:spPr>
          <a:xfrm>
            <a:off x="502920" y="1389888"/>
            <a:ext cx="8229600" cy="0"/>
          </a:xfrm>
          <a:prstGeom prst="straightConnector1">
            <a:avLst/>
          </a:prstGeom>
          <a:noFill/>
          <a:ln cap="flat" cmpd="sng" w="15225">
            <a:solidFill>
              <a:srgbClr val="0C9DA5">
                <a:alpha val="74901"/>
              </a:srgbClr>
            </a:solidFill>
            <a:prstDash val="solid"/>
            <a:round/>
            <a:headEnd len="sm" w="sm" type="none"/>
            <a:tailEnd len="sm" w="sm" type="none"/>
          </a:ln>
        </p:spPr>
      </p:cxnSp>
      <p:pic>
        <p:nvPicPr>
          <p:cNvPr descr="/workspaces/qm2023-capstone-2nd-row-team/results/figures/m3_market_model_fit.png" id="102" name="Google Shape;102;p7"/>
          <p:cNvPicPr preferRelativeResize="0"/>
          <p:nvPr/>
        </p:nvPicPr>
        <p:blipFill rotWithShape="1">
          <a:blip r:embed="rId3">
            <a:alphaModFix/>
          </a:blip>
          <a:srcRect b="0" l="0" r="0" t="0"/>
          <a:stretch/>
        </p:blipFill>
        <p:spPr>
          <a:xfrm>
            <a:off x="502920" y="1664208"/>
            <a:ext cx="4526280" cy="3063240"/>
          </a:xfrm>
          <a:prstGeom prst="rect">
            <a:avLst/>
          </a:prstGeom>
          <a:noFill/>
          <a:ln>
            <a:noFill/>
          </a:ln>
        </p:spPr>
      </p:pic>
      <p:sp>
        <p:nvSpPr>
          <p:cNvPr id="103" name="Google Shape;103;p7"/>
          <p:cNvSpPr/>
          <p:nvPr/>
        </p:nvSpPr>
        <p:spPr>
          <a:xfrm>
            <a:off x="5257800" y="1664208"/>
            <a:ext cx="3383280" cy="841248"/>
          </a:xfrm>
          <a:prstGeom prst="roundRect">
            <a:avLst>
              <a:gd fmla="val 8696" name="adj"/>
            </a:avLst>
          </a:prstGeom>
          <a:solidFill>
            <a:srgbClr val="EAF2F8"/>
          </a:solidFill>
          <a:ln cap="flat" cmpd="sng" w="12700">
            <a:solidFill>
              <a:srgbClr val="EAF2F8">
                <a:alpha val="0"/>
              </a:srgbClr>
            </a:solidFill>
            <a:prstDash val="solid"/>
            <a:round/>
            <a:headEnd len="sm" w="sm" type="none"/>
            <a:tailEnd len="sm" w="sm" type="none"/>
          </a:ln>
          <a:effectLst>
            <a:outerShdw blurRad="25400" rotWithShape="0" algn="bl" dir="2700000" dist="127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7"/>
          <p:cNvSpPr/>
          <p:nvPr/>
        </p:nvSpPr>
        <p:spPr>
          <a:xfrm>
            <a:off x="5422392" y="1792224"/>
            <a:ext cx="30540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1500"/>
              <a:buFont typeface="Georgia"/>
              <a:buNone/>
            </a:pPr>
            <a:r>
              <a:rPr b="1" lang="en-US" sz="1500">
                <a:solidFill>
                  <a:srgbClr val="0F2747"/>
                </a:solidFill>
                <a:latin typeface="Georgia"/>
                <a:ea typeface="Georgia"/>
                <a:cs typeface="Georgia"/>
                <a:sym typeface="Georgia"/>
              </a:rPr>
              <a:t>Direct signal</a:t>
            </a:r>
            <a:endParaRPr sz="1500">
              <a:solidFill>
                <a:schemeClr val="dk1"/>
              </a:solidFill>
              <a:latin typeface="Calibri"/>
              <a:ea typeface="Calibri"/>
              <a:cs typeface="Calibri"/>
              <a:sym typeface="Calibri"/>
            </a:endParaRPr>
          </a:p>
        </p:txBody>
      </p:sp>
      <p:sp>
        <p:nvSpPr>
          <p:cNvPr id="105" name="Google Shape;105;p7"/>
          <p:cNvSpPr/>
          <p:nvPr/>
        </p:nvSpPr>
        <p:spPr>
          <a:xfrm>
            <a:off x="5422392" y="2084832"/>
            <a:ext cx="3054096"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3447"/>
              </a:buClr>
              <a:buSzPts val="1200"/>
              <a:buFont typeface="Calibri"/>
              <a:buNone/>
            </a:pPr>
            <a:r>
              <a:rPr lang="en-US" sz="1200">
                <a:solidFill>
                  <a:srgbClr val="243447"/>
                </a:solidFill>
                <a:latin typeface="Calibri"/>
                <a:ea typeface="Calibri"/>
                <a:cs typeface="Calibri"/>
                <a:sym typeface="Calibri"/>
              </a:rPr>
              <a:t>The broad-market sentiment coefficients were close to zero and statistically weak.</a:t>
            </a:r>
            <a:endParaRPr sz="1200">
              <a:solidFill>
                <a:schemeClr val="dk1"/>
              </a:solidFill>
              <a:latin typeface="Calibri"/>
              <a:ea typeface="Calibri"/>
              <a:cs typeface="Calibri"/>
              <a:sym typeface="Calibri"/>
            </a:endParaRPr>
          </a:p>
        </p:txBody>
      </p:sp>
      <p:sp>
        <p:nvSpPr>
          <p:cNvPr id="106" name="Google Shape;106;p7"/>
          <p:cNvSpPr/>
          <p:nvPr/>
        </p:nvSpPr>
        <p:spPr>
          <a:xfrm>
            <a:off x="5257800" y="2615184"/>
            <a:ext cx="3383280" cy="987552"/>
          </a:xfrm>
          <a:prstGeom prst="roundRect">
            <a:avLst>
              <a:gd fmla="val 8696" name="adj"/>
            </a:avLst>
          </a:prstGeom>
          <a:solidFill>
            <a:srgbClr val="FFF3D6"/>
          </a:solidFill>
          <a:ln cap="flat" cmpd="sng" w="12700">
            <a:solidFill>
              <a:srgbClr val="FFF3D6">
                <a:alpha val="0"/>
              </a:srgbClr>
            </a:solidFill>
            <a:prstDash val="solid"/>
            <a:round/>
            <a:headEnd len="sm" w="sm" type="none"/>
            <a:tailEnd len="sm" w="sm" type="none"/>
          </a:ln>
          <a:effectLst>
            <a:outerShdw blurRad="25400" rotWithShape="0" algn="bl" dir="2700000" dist="127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 name="Google Shape;107;p7"/>
          <p:cNvSpPr/>
          <p:nvPr/>
        </p:nvSpPr>
        <p:spPr>
          <a:xfrm>
            <a:off x="5422392" y="2743200"/>
            <a:ext cx="30540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1500"/>
              <a:buFont typeface="Georgia"/>
              <a:buNone/>
            </a:pPr>
            <a:r>
              <a:rPr b="1" lang="en-US" sz="1500">
                <a:solidFill>
                  <a:srgbClr val="0F2747"/>
                </a:solidFill>
                <a:latin typeface="Georgia"/>
                <a:ea typeface="Georgia"/>
                <a:cs typeface="Georgia"/>
                <a:sym typeface="Georgia"/>
              </a:rPr>
              <a:t>Interpretation</a:t>
            </a:r>
            <a:endParaRPr sz="1500">
              <a:solidFill>
                <a:schemeClr val="dk1"/>
              </a:solidFill>
              <a:latin typeface="Calibri"/>
              <a:ea typeface="Calibri"/>
              <a:cs typeface="Calibri"/>
              <a:sym typeface="Calibri"/>
            </a:endParaRPr>
          </a:p>
        </p:txBody>
      </p:sp>
      <p:sp>
        <p:nvSpPr>
          <p:cNvPr id="108" name="Google Shape;108;p7"/>
          <p:cNvSpPr/>
          <p:nvPr/>
        </p:nvSpPr>
        <p:spPr>
          <a:xfrm>
            <a:off x="5422392" y="3035808"/>
            <a:ext cx="3054096"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3447"/>
              </a:buClr>
              <a:buSzPts val="1200"/>
              <a:buFont typeface="Calibri"/>
              <a:buNone/>
            </a:pPr>
            <a:r>
              <a:rPr lang="en-US" sz="1200">
                <a:solidFill>
                  <a:srgbClr val="243447"/>
                </a:solidFill>
                <a:latin typeface="Calibri"/>
                <a:ea typeface="Calibri"/>
                <a:cs typeface="Calibri"/>
                <a:sym typeface="Calibri"/>
              </a:rPr>
              <a:t>The market appears to absorb sentiment quickly, or sentiment matters only through exposure and liquidity channels.</a:t>
            </a:r>
            <a:endParaRPr sz="1200">
              <a:solidFill>
                <a:schemeClr val="dk1"/>
              </a:solidFill>
              <a:latin typeface="Calibri"/>
              <a:ea typeface="Calibri"/>
              <a:cs typeface="Calibri"/>
              <a:sym typeface="Calibri"/>
            </a:endParaRPr>
          </a:p>
        </p:txBody>
      </p:sp>
      <p:sp>
        <p:nvSpPr>
          <p:cNvPr id="109" name="Google Shape;109;p7"/>
          <p:cNvSpPr/>
          <p:nvPr/>
        </p:nvSpPr>
        <p:spPr>
          <a:xfrm>
            <a:off x="5257800" y="3712464"/>
            <a:ext cx="3383280" cy="1197864"/>
          </a:xfrm>
          <a:prstGeom prst="roundRect">
            <a:avLst>
              <a:gd fmla="val 7273" name="adj"/>
            </a:avLst>
          </a:prstGeom>
          <a:solidFill>
            <a:srgbClr val="E6F7F6"/>
          </a:solidFill>
          <a:ln cap="flat" cmpd="sng" w="12700">
            <a:solidFill>
              <a:srgbClr val="E6F7F6">
                <a:alpha val="0"/>
              </a:srgbClr>
            </a:solidFill>
            <a:prstDash val="solid"/>
            <a:round/>
            <a:headEnd len="sm" w="sm" type="none"/>
            <a:tailEnd len="sm" w="sm" type="none"/>
          </a:ln>
          <a:effectLst>
            <a:outerShdw blurRad="25400" rotWithShape="0" algn="bl" dir="2700000" dist="127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7"/>
          <p:cNvSpPr/>
          <p:nvPr/>
        </p:nvSpPr>
        <p:spPr>
          <a:xfrm>
            <a:off x="5422392" y="3778377"/>
            <a:ext cx="30540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1500"/>
              <a:buFont typeface="Georgia"/>
              <a:buNone/>
            </a:pPr>
            <a:r>
              <a:rPr b="1" lang="en-US" sz="1500">
                <a:solidFill>
                  <a:srgbClr val="0F2747"/>
                </a:solidFill>
                <a:latin typeface="Georgia"/>
                <a:ea typeface="Georgia"/>
                <a:cs typeface="Georgia"/>
                <a:sym typeface="Georgia"/>
              </a:rPr>
              <a:t>Why this is useful</a:t>
            </a:r>
            <a:endParaRPr sz="1500">
              <a:solidFill>
                <a:schemeClr val="dk1"/>
              </a:solidFill>
              <a:latin typeface="Calibri"/>
              <a:ea typeface="Calibri"/>
              <a:cs typeface="Calibri"/>
              <a:sym typeface="Calibri"/>
            </a:endParaRPr>
          </a:p>
        </p:txBody>
      </p:sp>
      <p:sp>
        <p:nvSpPr>
          <p:cNvPr id="111" name="Google Shape;111;p7"/>
          <p:cNvSpPr/>
          <p:nvPr/>
        </p:nvSpPr>
        <p:spPr>
          <a:xfrm>
            <a:off x="5422392" y="4089273"/>
            <a:ext cx="3054096"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3447"/>
              </a:buClr>
              <a:buSzPts val="1200"/>
              <a:buFont typeface="Calibri"/>
              <a:buNone/>
            </a:pPr>
            <a:r>
              <a:rPr lang="en-US" sz="1200">
                <a:solidFill>
                  <a:srgbClr val="243447"/>
                </a:solidFill>
                <a:latin typeface="Calibri"/>
                <a:ea typeface="Calibri"/>
                <a:cs typeface="Calibri"/>
                <a:sym typeface="Calibri"/>
              </a:rPr>
              <a:t>A null direct effect is not a dead end. It tells us the right question is not whether sentiment moves every monthly return, but when and where it changes risk pricing.</a:t>
            </a:r>
            <a:endParaRPr sz="1200">
              <a:solidFill>
                <a:schemeClr val="dk1"/>
              </a:solidFill>
              <a:latin typeface="Calibri"/>
              <a:ea typeface="Calibri"/>
              <a:cs typeface="Calibri"/>
              <a:sym typeface="Calibri"/>
            </a:endParaRPr>
          </a:p>
        </p:txBody>
      </p:sp>
      <p:sp>
        <p:nvSpPr>
          <p:cNvPr id="112" name="Google Shape;112;p7"/>
          <p:cNvSpPr/>
          <p:nvPr/>
        </p:nvSpPr>
        <p:spPr>
          <a:xfrm>
            <a:off x="7635240" y="6446520"/>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C7A89"/>
              </a:buClr>
              <a:buSzPts val="900"/>
              <a:buFont typeface="Calibri"/>
              <a:buNone/>
            </a:pPr>
            <a:r>
              <a:rPr lang="en-US" sz="900">
                <a:solidFill>
                  <a:srgbClr val="6C7A89"/>
                </a:solidFill>
                <a:latin typeface="Calibri"/>
                <a:ea typeface="Calibri"/>
                <a:cs typeface="Calibri"/>
                <a:sym typeface="Calibri"/>
              </a:rPr>
              <a:t>2nd Row Team | 5/10</a:t>
            </a:r>
            <a:endParaRPr sz="9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1E8"/>
        </a:solidFill>
      </p:bgPr>
    </p:bg>
    <p:spTree>
      <p:nvGrpSpPr>
        <p:cNvPr id="117" name="Shape 117"/>
        <p:cNvGrpSpPr/>
        <p:nvPr/>
      </p:nvGrpSpPr>
      <p:grpSpPr>
        <a:xfrm>
          <a:off x="0" y="0"/>
          <a:ext cx="0" cy="0"/>
          <a:chOff x="0" y="0"/>
          <a:chExt cx="0" cy="0"/>
        </a:xfrm>
      </p:grpSpPr>
      <p:sp>
        <p:nvSpPr>
          <p:cNvPr id="118" name="Google Shape;118;p8"/>
          <p:cNvSpPr/>
          <p:nvPr/>
        </p:nvSpPr>
        <p:spPr>
          <a:xfrm>
            <a:off x="502920" y="365760"/>
            <a:ext cx="1920240" cy="310896"/>
          </a:xfrm>
          <a:prstGeom prst="roundRect">
            <a:avLst>
              <a:gd fmla="val 16667" name="adj"/>
            </a:avLst>
          </a:prstGeom>
          <a:solidFill>
            <a:srgbClr val="E6F7F6"/>
          </a:solidFill>
          <a:ln cap="flat" cmpd="sng" w="9525">
            <a:solidFill>
              <a:srgbClr val="E6F7F6">
                <a:alpha val="0"/>
              </a:srgbClr>
            </a:solidFill>
            <a:prstDash val="solid"/>
            <a:round/>
            <a:headEnd len="sm" w="sm" type="none"/>
            <a:tailEnd len="sm" w="sm" type="none"/>
          </a:ln>
        </p:spPr>
        <p:txBody>
          <a:bodyPr anchorCtr="0" anchor="ctr" bIns="750" lIns="750" spcFirstLastPara="1" rIns="750" wrap="square" tIns="750">
            <a:noAutofit/>
          </a:bodyPr>
          <a:lstStyle/>
          <a:p>
            <a:pPr indent="0" lvl="0" marL="0" marR="0" rtl="0" algn="ctr">
              <a:spcBef>
                <a:spcPts val="0"/>
              </a:spcBef>
              <a:spcAft>
                <a:spcPts val="0"/>
              </a:spcAft>
              <a:buClr>
                <a:srgbClr val="0C9DA5"/>
              </a:buClr>
              <a:buSzPts val="1100"/>
              <a:buFont typeface="Calibri"/>
              <a:buNone/>
            </a:pPr>
            <a:r>
              <a:rPr b="1" lang="en-US" sz="1100">
                <a:solidFill>
                  <a:srgbClr val="0C9DA5"/>
                </a:solidFill>
                <a:latin typeface="Calibri"/>
                <a:ea typeface="Calibri"/>
                <a:cs typeface="Calibri"/>
                <a:sym typeface="Calibri"/>
              </a:rPr>
              <a:t>Event study</a:t>
            </a:r>
            <a:endParaRPr sz="1100">
              <a:solidFill>
                <a:schemeClr val="dk1"/>
              </a:solidFill>
              <a:latin typeface="Calibri"/>
              <a:ea typeface="Calibri"/>
              <a:cs typeface="Calibri"/>
              <a:sym typeface="Calibri"/>
            </a:endParaRPr>
          </a:p>
        </p:txBody>
      </p:sp>
      <p:sp>
        <p:nvSpPr>
          <p:cNvPr id="119" name="Google Shape;119;p8"/>
          <p:cNvSpPr/>
          <p:nvPr/>
        </p:nvSpPr>
        <p:spPr>
          <a:xfrm>
            <a:off x="502920" y="749808"/>
            <a:ext cx="7863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2400"/>
              <a:buFont typeface="Georgia"/>
              <a:buNone/>
            </a:pPr>
            <a:r>
              <a:rPr b="1" lang="en-US" sz="2400">
                <a:solidFill>
                  <a:srgbClr val="0F2747"/>
                </a:solidFill>
                <a:latin typeface="Georgia"/>
                <a:ea typeface="Georgia"/>
                <a:cs typeface="Georgia"/>
                <a:sym typeface="Georgia"/>
              </a:rPr>
              <a:t>When markets break, sentiment becomes economically visible</a:t>
            </a:r>
            <a:endParaRPr sz="2400">
              <a:solidFill>
                <a:schemeClr val="dk1"/>
              </a:solidFill>
              <a:latin typeface="Calibri"/>
              <a:ea typeface="Calibri"/>
              <a:cs typeface="Calibri"/>
              <a:sym typeface="Calibri"/>
            </a:endParaRPr>
          </a:p>
        </p:txBody>
      </p:sp>
      <p:cxnSp>
        <p:nvCxnSpPr>
          <p:cNvPr id="120" name="Google Shape;120;p8"/>
          <p:cNvCxnSpPr/>
          <p:nvPr/>
        </p:nvCxnSpPr>
        <p:spPr>
          <a:xfrm>
            <a:off x="502920" y="1389888"/>
            <a:ext cx="8229600" cy="0"/>
          </a:xfrm>
          <a:prstGeom prst="straightConnector1">
            <a:avLst/>
          </a:prstGeom>
          <a:noFill/>
          <a:ln cap="flat" cmpd="sng" w="15225">
            <a:solidFill>
              <a:srgbClr val="0C9DA5">
                <a:alpha val="74901"/>
              </a:srgbClr>
            </a:solidFill>
            <a:prstDash val="solid"/>
            <a:round/>
            <a:headEnd len="sm" w="sm" type="none"/>
            <a:tailEnd len="sm" w="sm" type="none"/>
          </a:ln>
        </p:spPr>
      </p:cxnSp>
      <p:pic>
        <p:nvPicPr>
          <p:cNvPr descr="/workspaces/qm2023-capstone-2nd-row-team/results/figures/time_series_event_study_window_bars.png" id="121" name="Google Shape;121;p8"/>
          <p:cNvPicPr preferRelativeResize="0"/>
          <p:nvPr/>
        </p:nvPicPr>
        <p:blipFill rotWithShape="1">
          <a:blip r:embed="rId3">
            <a:alphaModFix/>
          </a:blip>
          <a:srcRect b="0" l="0" r="0" t="0"/>
          <a:stretch/>
        </p:blipFill>
        <p:spPr>
          <a:xfrm>
            <a:off x="530352" y="1664208"/>
            <a:ext cx="4754880" cy="3246120"/>
          </a:xfrm>
          <a:prstGeom prst="rect">
            <a:avLst/>
          </a:prstGeom>
          <a:noFill/>
          <a:ln>
            <a:noFill/>
          </a:ln>
        </p:spPr>
      </p:pic>
      <p:sp>
        <p:nvSpPr>
          <p:cNvPr id="122" name="Google Shape;122;p8"/>
          <p:cNvSpPr/>
          <p:nvPr/>
        </p:nvSpPr>
        <p:spPr>
          <a:xfrm>
            <a:off x="5486400" y="1664207"/>
            <a:ext cx="2788920" cy="1339595"/>
          </a:xfrm>
          <a:prstGeom prst="roundRect">
            <a:avLst>
              <a:gd fmla="val 4630" name="adj"/>
            </a:avLst>
          </a:prstGeom>
          <a:solidFill>
            <a:srgbClr val="FFFFFF"/>
          </a:solidFill>
          <a:ln cap="flat" cmpd="sng" w="12700">
            <a:solidFill>
              <a:srgbClr val="D7DDE4"/>
            </a:solidFill>
            <a:prstDash val="solid"/>
            <a:round/>
            <a:headEnd len="sm" w="sm" type="none"/>
            <a:tailEnd len="sm" w="sm" type="none"/>
          </a:ln>
          <a:effectLst>
            <a:outerShdw blurRad="12700" rotWithShape="0" algn="bl" dir="2700000" dist="127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 name="Google Shape;123;p8"/>
          <p:cNvSpPr/>
          <p:nvPr/>
        </p:nvSpPr>
        <p:spPr>
          <a:xfrm>
            <a:off x="5632704" y="1773936"/>
            <a:ext cx="249631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1400"/>
              <a:buFont typeface="Georgia"/>
              <a:buNone/>
            </a:pPr>
            <a:r>
              <a:rPr b="1" lang="en-US" sz="1400">
                <a:solidFill>
                  <a:srgbClr val="0F2747"/>
                </a:solidFill>
                <a:latin typeface="Georgia"/>
                <a:ea typeface="Georgia"/>
                <a:cs typeface="Georgia"/>
                <a:sym typeface="Georgia"/>
              </a:rPr>
              <a:t>2008 crisis</a:t>
            </a:r>
            <a:endParaRPr sz="1400">
              <a:solidFill>
                <a:schemeClr val="dk1"/>
              </a:solidFill>
              <a:latin typeface="Calibri"/>
              <a:ea typeface="Calibri"/>
              <a:cs typeface="Calibri"/>
              <a:sym typeface="Calibri"/>
            </a:endParaRPr>
          </a:p>
        </p:txBody>
      </p:sp>
      <p:sp>
        <p:nvSpPr>
          <p:cNvPr id="124" name="Google Shape;124;p8"/>
          <p:cNvSpPr/>
          <p:nvPr/>
        </p:nvSpPr>
        <p:spPr>
          <a:xfrm>
            <a:off x="5650992" y="2210562"/>
            <a:ext cx="2459736" cy="512064"/>
          </a:xfrm>
          <a:prstGeom prst="rect">
            <a:avLst/>
          </a:prstGeom>
          <a:noFill/>
          <a:ln>
            <a:noFill/>
          </a:ln>
        </p:spPr>
        <p:txBody>
          <a:bodyPr anchorCtr="0" anchor="ctr" bIns="0" lIns="0" spcFirstLastPara="1" rIns="0" wrap="square" tIns="0">
            <a:noAutofit/>
          </a:bodyPr>
          <a:lstStyle/>
          <a:p>
            <a:pPr indent="-177800" lvl="0" marL="177800" marR="0" rtl="0" algn="l">
              <a:spcBef>
                <a:spcPts val="0"/>
              </a:spcBef>
              <a:spcAft>
                <a:spcPts val="0"/>
              </a:spcAft>
              <a:buClr>
                <a:srgbClr val="243447"/>
              </a:buClr>
              <a:buSzPts val="1200"/>
              <a:buFont typeface="Calibri"/>
              <a:buChar char="•"/>
            </a:pPr>
            <a:r>
              <a:rPr lang="en-US" sz="1200">
                <a:solidFill>
                  <a:srgbClr val="243447"/>
                </a:solidFill>
                <a:latin typeface="Calibri"/>
                <a:ea typeface="Calibri"/>
                <a:cs typeface="Calibri"/>
                <a:sym typeface="Calibri"/>
              </a:rPr>
              <a:t>Cumulative abnormal returns were sharply negative across the event windows.</a:t>
            </a:r>
            <a:endParaRPr sz="1200">
              <a:solidFill>
                <a:schemeClr val="dk1"/>
              </a:solidFill>
              <a:latin typeface="Calibri"/>
              <a:ea typeface="Calibri"/>
              <a:cs typeface="Calibri"/>
              <a:sym typeface="Calibri"/>
            </a:endParaRPr>
          </a:p>
          <a:p>
            <a:pPr indent="-177800" lvl="0" marL="177800" marR="0" rtl="0" algn="l">
              <a:spcBef>
                <a:spcPts val="0"/>
              </a:spcBef>
              <a:spcAft>
                <a:spcPts val="0"/>
              </a:spcAft>
              <a:buClr>
                <a:srgbClr val="243447"/>
              </a:buClr>
              <a:buSzPts val="1200"/>
              <a:buFont typeface="Calibri"/>
              <a:buChar char="•"/>
            </a:pPr>
            <a:r>
              <a:rPr lang="en-US" sz="1200">
                <a:solidFill>
                  <a:srgbClr val="243447"/>
                </a:solidFill>
                <a:latin typeface="Calibri"/>
                <a:ea typeface="Calibri"/>
                <a:cs typeface="Calibri"/>
                <a:sym typeface="Calibri"/>
              </a:rPr>
              <a:t>This is a repricing of default risk, funding stress, and recession odds.</a:t>
            </a:r>
            <a:endParaRPr sz="1200">
              <a:solidFill>
                <a:schemeClr val="dk1"/>
              </a:solidFill>
              <a:latin typeface="Calibri"/>
              <a:ea typeface="Calibri"/>
              <a:cs typeface="Calibri"/>
              <a:sym typeface="Calibri"/>
            </a:endParaRPr>
          </a:p>
        </p:txBody>
      </p:sp>
      <p:sp>
        <p:nvSpPr>
          <p:cNvPr id="125" name="Google Shape;125;p8"/>
          <p:cNvSpPr/>
          <p:nvPr/>
        </p:nvSpPr>
        <p:spPr>
          <a:xfrm>
            <a:off x="5463540" y="3154680"/>
            <a:ext cx="2788920" cy="1618489"/>
          </a:xfrm>
          <a:prstGeom prst="roundRect">
            <a:avLst>
              <a:gd fmla="val 4630" name="adj"/>
            </a:avLst>
          </a:prstGeom>
          <a:solidFill>
            <a:srgbClr val="FFFFFF"/>
          </a:solidFill>
          <a:ln cap="flat" cmpd="sng" w="12700">
            <a:solidFill>
              <a:srgbClr val="D7DDE4"/>
            </a:solidFill>
            <a:prstDash val="solid"/>
            <a:round/>
            <a:headEnd len="sm" w="sm" type="none"/>
            <a:tailEnd len="sm" w="sm" type="none"/>
          </a:ln>
          <a:effectLst>
            <a:outerShdw blurRad="12700" rotWithShape="0" algn="bl" dir="2700000" dist="127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8"/>
          <p:cNvSpPr/>
          <p:nvPr/>
        </p:nvSpPr>
        <p:spPr>
          <a:xfrm>
            <a:off x="5596128" y="3297427"/>
            <a:ext cx="249631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1400"/>
              <a:buFont typeface="Georgia"/>
              <a:buNone/>
            </a:pPr>
            <a:r>
              <a:rPr b="1" lang="en-US" sz="1400">
                <a:solidFill>
                  <a:srgbClr val="0F2747"/>
                </a:solidFill>
                <a:latin typeface="Georgia"/>
                <a:ea typeface="Georgia"/>
                <a:cs typeface="Georgia"/>
                <a:sym typeface="Georgia"/>
              </a:rPr>
              <a:t>COVID shock</a:t>
            </a:r>
            <a:endParaRPr sz="1400">
              <a:solidFill>
                <a:schemeClr val="dk1"/>
              </a:solidFill>
              <a:latin typeface="Calibri"/>
              <a:ea typeface="Calibri"/>
              <a:cs typeface="Calibri"/>
              <a:sym typeface="Calibri"/>
            </a:endParaRPr>
          </a:p>
        </p:txBody>
      </p:sp>
      <p:sp>
        <p:nvSpPr>
          <p:cNvPr id="127" name="Google Shape;127;p8"/>
          <p:cNvSpPr/>
          <p:nvPr/>
        </p:nvSpPr>
        <p:spPr>
          <a:xfrm>
            <a:off x="5628132" y="3882643"/>
            <a:ext cx="2459736" cy="512064"/>
          </a:xfrm>
          <a:prstGeom prst="rect">
            <a:avLst/>
          </a:prstGeom>
          <a:noFill/>
          <a:ln>
            <a:noFill/>
          </a:ln>
        </p:spPr>
        <p:txBody>
          <a:bodyPr anchorCtr="0" anchor="ctr" bIns="0" lIns="0" spcFirstLastPara="1" rIns="0" wrap="square" tIns="0">
            <a:noAutofit/>
          </a:bodyPr>
          <a:lstStyle/>
          <a:p>
            <a:pPr indent="-177800" lvl="0" marL="177800" marR="0" rtl="0" algn="l">
              <a:spcBef>
                <a:spcPts val="0"/>
              </a:spcBef>
              <a:spcAft>
                <a:spcPts val="0"/>
              </a:spcAft>
              <a:buClr>
                <a:srgbClr val="243447"/>
              </a:buClr>
              <a:buSzPts val="1200"/>
              <a:buFont typeface="Calibri"/>
              <a:buChar char="•"/>
            </a:pPr>
            <a:r>
              <a:rPr lang="en-US" sz="1200">
                <a:solidFill>
                  <a:srgbClr val="243447"/>
                </a:solidFill>
                <a:latin typeface="Calibri"/>
                <a:ea typeface="Calibri"/>
                <a:cs typeface="Calibri"/>
                <a:sym typeface="Calibri"/>
              </a:rPr>
              <a:t>The immediate shock was severe, but the recovery path was faster than 2008.</a:t>
            </a:r>
            <a:endParaRPr sz="1200">
              <a:solidFill>
                <a:schemeClr val="dk1"/>
              </a:solidFill>
              <a:latin typeface="Calibri"/>
              <a:ea typeface="Calibri"/>
              <a:cs typeface="Calibri"/>
              <a:sym typeface="Calibri"/>
            </a:endParaRPr>
          </a:p>
          <a:p>
            <a:pPr indent="-177800" lvl="0" marL="177800" marR="0" rtl="0" algn="l">
              <a:spcBef>
                <a:spcPts val="0"/>
              </a:spcBef>
              <a:spcAft>
                <a:spcPts val="0"/>
              </a:spcAft>
              <a:buClr>
                <a:srgbClr val="243447"/>
              </a:buClr>
              <a:buSzPts val="1200"/>
              <a:buFont typeface="Calibri"/>
              <a:buChar char="•"/>
            </a:pPr>
            <a:r>
              <a:rPr lang="en-US" sz="1200">
                <a:solidFill>
                  <a:srgbClr val="243447"/>
                </a:solidFill>
                <a:latin typeface="Calibri"/>
                <a:ea typeface="Calibri"/>
                <a:cs typeface="Calibri"/>
                <a:sym typeface="Calibri"/>
              </a:rPr>
              <a:t>Markets interpreted the shock as temporary but severe, with policy support quickly priced in.</a:t>
            </a:r>
            <a:endParaRPr sz="1200">
              <a:solidFill>
                <a:schemeClr val="dk1"/>
              </a:solidFill>
              <a:latin typeface="Calibri"/>
              <a:ea typeface="Calibri"/>
              <a:cs typeface="Calibri"/>
              <a:sym typeface="Calibri"/>
            </a:endParaRPr>
          </a:p>
        </p:txBody>
      </p:sp>
      <p:sp>
        <p:nvSpPr>
          <p:cNvPr id="128" name="Google Shape;128;p8"/>
          <p:cNvSpPr/>
          <p:nvPr/>
        </p:nvSpPr>
        <p:spPr>
          <a:xfrm>
            <a:off x="5463540" y="4924044"/>
            <a:ext cx="2788920" cy="868680"/>
          </a:xfrm>
          <a:prstGeom prst="roundRect">
            <a:avLst>
              <a:gd fmla="val 8421" name="adj"/>
            </a:avLst>
          </a:prstGeom>
          <a:solidFill>
            <a:srgbClr val="E6F7F6"/>
          </a:solidFill>
          <a:ln cap="flat" cmpd="sng" w="12700">
            <a:solidFill>
              <a:srgbClr val="E6F7F6">
                <a:alpha val="0"/>
              </a:srgbClr>
            </a:solidFill>
            <a:prstDash val="solid"/>
            <a:round/>
            <a:headEnd len="sm" w="sm" type="none"/>
            <a:tailEnd len="sm" w="sm" type="none"/>
          </a:ln>
          <a:effectLst>
            <a:outerShdw blurRad="25400" rotWithShape="0" algn="bl" dir="2700000" dist="127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8"/>
          <p:cNvSpPr/>
          <p:nvPr/>
        </p:nvSpPr>
        <p:spPr>
          <a:xfrm>
            <a:off x="5632704" y="4937760"/>
            <a:ext cx="24597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1500"/>
              <a:buFont typeface="Georgia"/>
              <a:buNone/>
            </a:pPr>
            <a:r>
              <a:rPr b="1" lang="en-US" sz="1500">
                <a:solidFill>
                  <a:srgbClr val="0F2747"/>
                </a:solidFill>
                <a:latin typeface="Georgia"/>
                <a:ea typeface="Georgia"/>
                <a:cs typeface="Georgia"/>
                <a:sym typeface="Georgia"/>
              </a:rPr>
              <a:t>Economic message</a:t>
            </a:r>
            <a:endParaRPr sz="1500">
              <a:solidFill>
                <a:schemeClr val="dk1"/>
              </a:solidFill>
              <a:latin typeface="Calibri"/>
              <a:ea typeface="Calibri"/>
              <a:cs typeface="Calibri"/>
              <a:sym typeface="Calibri"/>
            </a:endParaRPr>
          </a:p>
        </p:txBody>
      </p:sp>
      <p:sp>
        <p:nvSpPr>
          <p:cNvPr id="130" name="Google Shape;130;p8"/>
          <p:cNvSpPr/>
          <p:nvPr/>
        </p:nvSpPr>
        <p:spPr>
          <a:xfrm>
            <a:off x="5628132" y="5276088"/>
            <a:ext cx="2459736" cy="3383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3447"/>
              </a:buClr>
              <a:buSzPts val="1200"/>
              <a:buFont typeface="Calibri"/>
              <a:buNone/>
            </a:pPr>
            <a:r>
              <a:rPr lang="en-US" sz="1200">
                <a:solidFill>
                  <a:srgbClr val="243447"/>
                </a:solidFill>
                <a:latin typeface="Calibri"/>
                <a:ea typeface="Calibri"/>
                <a:cs typeface="Calibri"/>
                <a:sym typeface="Calibri"/>
              </a:rPr>
              <a:t>Sentiment is most useful at inflection points, not in calm periods.</a:t>
            </a:r>
            <a:endParaRPr sz="1200">
              <a:solidFill>
                <a:schemeClr val="dk1"/>
              </a:solidFill>
              <a:latin typeface="Calibri"/>
              <a:ea typeface="Calibri"/>
              <a:cs typeface="Calibri"/>
              <a:sym typeface="Calibri"/>
            </a:endParaRPr>
          </a:p>
        </p:txBody>
      </p:sp>
      <p:sp>
        <p:nvSpPr>
          <p:cNvPr id="131" name="Google Shape;131;p8"/>
          <p:cNvSpPr/>
          <p:nvPr/>
        </p:nvSpPr>
        <p:spPr>
          <a:xfrm>
            <a:off x="7635240" y="6446520"/>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C7A89"/>
              </a:buClr>
              <a:buSzPts val="900"/>
              <a:buFont typeface="Calibri"/>
              <a:buNone/>
            </a:pPr>
            <a:r>
              <a:rPr lang="en-US" sz="900">
                <a:solidFill>
                  <a:srgbClr val="6C7A89"/>
                </a:solidFill>
                <a:latin typeface="Calibri"/>
                <a:ea typeface="Calibri"/>
                <a:cs typeface="Calibri"/>
                <a:sym typeface="Calibri"/>
              </a:rPr>
              <a:t>2nd Row Team | 6/10</a:t>
            </a:r>
            <a:endParaRPr sz="9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 name="Shape 136"/>
        <p:cNvGrpSpPr/>
        <p:nvPr/>
      </p:nvGrpSpPr>
      <p:grpSpPr>
        <a:xfrm>
          <a:off x="0" y="0"/>
          <a:ext cx="0" cy="0"/>
          <a:chOff x="0" y="0"/>
          <a:chExt cx="0" cy="0"/>
        </a:xfrm>
      </p:grpSpPr>
      <p:sp>
        <p:nvSpPr>
          <p:cNvPr id="137" name="Google Shape;137;p9"/>
          <p:cNvSpPr/>
          <p:nvPr/>
        </p:nvSpPr>
        <p:spPr>
          <a:xfrm>
            <a:off x="502920" y="365760"/>
            <a:ext cx="1920240" cy="310896"/>
          </a:xfrm>
          <a:prstGeom prst="roundRect">
            <a:avLst>
              <a:gd fmla="val 16667" name="adj"/>
            </a:avLst>
          </a:prstGeom>
          <a:solidFill>
            <a:srgbClr val="E6F7F6"/>
          </a:solidFill>
          <a:ln cap="flat" cmpd="sng" w="9525">
            <a:solidFill>
              <a:srgbClr val="E6F7F6">
                <a:alpha val="0"/>
              </a:srgbClr>
            </a:solidFill>
            <a:prstDash val="solid"/>
            <a:round/>
            <a:headEnd len="sm" w="sm" type="none"/>
            <a:tailEnd len="sm" w="sm" type="none"/>
          </a:ln>
        </p:spPr>
        <p:txBody>
          <a:bodyPr anchorCtr="0" anchor="ctr" bIns="750" lIns="750" spcFirstLastPara="1" rIns="750" wrap="square" tIns="750">
            <a:noAutofit/>
          </a:bodyPr>
          <a:lstStyle/>
          <a:p>
            <a:pPr indent="0" lvl="0" marL="0" marR="0" rtl="0" algn="ctr">
              <a:spcBef>
                <a:spcPts val="0"/>
              </a:spcBef>
              <a:spcAft>
                <a:spcPts val="0"/>
              </a:spcAft>
              <a:buClr>
                <a:srgbClr val="0C9DA5"/>
              </a:buClr>
              <a:buSzPts val="1100"/>
              <a:buFont typeface="Calibri"/>
              <a:buNone/>
            </a:pPr>
            <a:r>
              <a:rPr b="1" lang="en-US" sz="1100">
                <a:solidFill>
                  <a:srgbClr val="0C9DA5"/>
                </a:solidFill>
                <a:latin typeface="Calibri"/>
                <a:ea typeface="Calibri"/>
                <a:cs typeface="Calibri"/>
                <a:sym typeface="Calibri"/>
              </a:rPr>
              <a:t>Firm-level fixed effects</a:t>
            </a:r>
            <a:endParaRPr sz="1100">
              <a:solidFill>
                <a:schemeClr val="dk1"/>
              </a:solidFill>
              <a:latin typeface="Calibri"/>
              <a:ea typeface="Calibri"/>
              <a:cs typeface="Calibri"/>
              <a:sym typeface="Calibri"/>
            </a:endParaRPr>
          </a:p>
        </p:txBody>
      </p:sp>
      <p:sp>
        <p:nvSpPr>
          <p:cNvPr id="138" name="Google Shape;138;p9"/>
          <p:cNvSpPr/>
          <p:nvPr/>
        </p:nvSpPr>
        <p:spPr>
          <a:xfrm>
            <a:off x="502920" y="749808"/>
            <a:ext cx="7863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2400"/>
              <a:buFont typeface="Georgia"/>
              <a:buNone/>
            </a:pPr>
            <a:r>
              <a:rPr b="1" lang="en-US" sz="2400">
                <a:solidFill>
                  <a:srgbClr val="0F2747"/>
                </a:solidFill>
                <a:latin typeface="Georgia"/>
                <a:ea typeface="Georgia"/>
                <a:cs typeface="Georgia"/>
                <a:sym typeface="Georgia"/>
              </a:rPr>
              <a:t>M3v2: The panel model says smaller firms are more sentiment-sensitive</a:t>
            </a:r>
            <a:endParaRPr sz="2400">
              <a:solidFill>
                <a:schemeClr val="dk1"/>
              </a:solidFill>
              <a:latin typeface="Calibri"/>
              <a:ea typeface="Calibri"/>
              <a:cs typeface="Calibri"/>
              <a:sym typeface="Calibri"/>
            </a:endParaRPr>
          </a:p>
        </p:txBody>
      </p:sp>
      <p:cxnSp>
        <p:nvCxnSpPr>
          <p:cNvPr id="139" name="Google Shape;139;p9"/>
          <p:cNvCxnSpPr/>
          <p:nvPr/>
        </p:nvCxnSpPr>
        <p:spPr>
          <a:xfrm>
            <a:off x="502920" y="1389888"/>
            <a:ext cx="8229600" cy="0"/>
          </a:xfrm>
          <a:prstGeom prst="straightConnector1">
            <a:avLst/>
          </a:prstGeom>
          <a:noFill/>
          <a:ln cap="flat" cmpd="sng" w="15225">
            <a:solidFill>
              <a:srgbClr val="0C9DA5">
                <a:alpha val="74901"/>
              </a:srgbClr>
            </a:solidFill>
            <a:prstDash val="solid"/>
            <a:round/>
            <a:headEnd len="sm" w="sm" type="none"/>
            <a:tailEnd len="sm" w="sm" type="none"/>
          </a:ln>
        </p:spPr>
      </p:cxnSp>
      <p:pic>
        <p:nvPicPr>
          <p:cNvPr descr="/workspaces/qm2023-capstone-2nd-row-team/results/figures/m3v2_group_trends.png" id="140" name="Google Shape;140;p9"/>
          <p:cNvPicPr preferRelativeResize="0"/>
          <p:nvPr/>
        </p:nvPicPr>
        <p:blipFill rotWithShape="1">
          <a:blip r:embed="rId3">
            <a:alphaModFix/>
          </a:blip>
          <a:srcRect b="0" l="0" r="0" t="0"/>
          <a:stretch/>
        </p:blipFill>
        <p:spPr>
          <a:xfrm>
            <a:off x="502920" y="1691640"/>
            <a:ext cx="3977640" cy="2880360"/>
          </a:xfrm>
          <a:prstGeom prst="rect">
            <a:avLst/>
          </a:prstGeom>
          <a:noFill/>
          <a:ln>
            <a:noFill/>
          </a:ln>
        </p:spPr>
      </p:pic>
      <p:pic>
        <p:nvPicPr>
          <p:cNvPr descr="/workspaces/qm2023-capstone-2nd-row-team/results/figures/m3v2_interaction_elasticity.png" id="141" name="Google Shape;141;p9"/>
          <p:cNvPicPr preferRelativeResize="0"/>
          <p:nvPr/>
        </p:nvPicPr>
        <p:blipFill rotWithShape="1">
          <a:blip r:embed="rId4">
            <a:alphaModFix/>
          </a:blip>
          <a:srcRect b="0" l="0" r="0" t="0"/>
          <a:stretch/>
        </p:blipFill>
        <p:spPr>
          <a:xfrm>
            <a:off x="4617720" y="1691640"/>
            <a:ext cx="3977640" cy="2880360"/>
          </a:xfrm>
          <a:prstGeom prst="rect">
            <a:avLst/>
          </a:prstGeom>
          <a:noFill/>
          <a:ln>
            <a:noFill/>
          </a:ln>
        </p:spPr>
      </p:pic>
      <p:sp>
        <p:nvSpPr>
          <p:cNvPr id="142" name="Google Shape;142;p9"/>
          <p:cNvSpPr/>
          <p:nvPr/>
        </p:nvSpPr>
        <p:spPr>
          <a:xfrm>
            <a:off x="658368" y="4800600"/>
            <a:ext cx="1417320" cy="965200"/>
          </a:xfrm>
          <a:prstGeom prst="roundRect">
            <a:avLst>
              <a:gd fmla="val 11111" name="adj"/>
            </a:avLst>
          </a:prstGeom>
          <a:solidFill>
            <a:srgbClr val="E6F7F6"/>
          </a:solidFill>
          <a:ln cap="flat" cmpd="sng" w="12700">
            <a:solidFill>
              <a:srgbClr val="E6F7F6">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9"/>
          <p:cNvSpPr/>
          <p:nvPr/>
        </p:nvSpPr>
        <p:spPr>
          <a:xfrm>
            <a:off x="731520" y="4982972"/>
            <a:ext cx="1271016"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747"/>
              </a:buClr>
              <a:buSzPts val="2400"/>
              <a:buFont typeface="Georgia"/>
              <a:buNone/>
            </a:pPr>
            <a:r>
              <a:rPr b="1" lang="en-US" sz="2400">
                <a:solidFill>
                  <a:srgbClr val="0F2747"/>
                </a:solidFill>
                <a:latin typeface="Georgia"/>
                <a:ea typeface="Georgia"/>
                <a:cs typeface="Georgia"/>
                <a:sym typeface="Georgia"/>
              </a:rPr>
              <a:t>0.211*</a:t>
            </a:r>
            <a:endParaRPr sz="2400">
              <a:solidFill>
                <a:schemeClr val="dk1"/>
              </a:solidFill>
              <a:latin typeface="Calibri"/>
              <a:ea typeface="Calibri"/>
              <a:cs typeface="Calibri"/>
              <a:sym typeface="Calibri"/>
            </a:endParaRPr>
          </a:p>
        </p:txBody>
      </p:sp>
      <p:sp>
        <p:nvSpPr>
          <p:cNvPr id="144" name="Google Shape;144;p9"/>
          <p:cNvSpPr/>
          <p:nvPr/>
        </p:nvSpPr>
        <p:spPr>
          <a:xfrm>
            <a:off x="731520" y="5473700"/>
            <a:ext cx="123444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C7A89"/>
              </a:buClr>
              <a:buSzPts val="1100"/>
              <a:buFont typeface="Calibri"/>
              <a:buNone/>
            </a:pPr>
            <a:r>
              <a:rPr lang="en-US" sz="1100">
                <a:solidFill>
                  <a:srgbClr val="6C7A89"/>
                </a:solidFill>
                <a:latin typeface="Calibri"/>
                <a:ea typeface="Calibri"/>
                <a:cs typeface="Calibri"/>
                <a:sym typeface="Calibri"/>
              </a:rPr>
              <a:t>sentiment x small-firm exposure</a:t>
            </a:r>
            <a:endParaRPr sz="1100">
              <a:solidFill>
                <a:schemeClr val="dk1"/>
              </a:solidFill>
              <a:latin typeface="Calibri"/>
              <a:ea typeface="Calibri"/>
              <a:cs typeface="Calibri"/>
              <a:sym typeface="Calibri"/>
            </a:endParaRPr>
          </a:p>
        </p:txBody>
      </p:sp>
      <p:sp>
        <p:nvSpPr>
          <p:cNvPr id="145" name="Google Shape;145;p9"/>
          <p:cNvSpPr/>
          <p:nvPr/>
        </p:nvSpPr>
        <p:spPr>
          <a:xfrm>
            <a:off x="2212848" y="4800600"/>
            <a:ext cx="1325880" cy="965200"/>
          </a:xfrm>
          <a:prstGeom prst="roundRect">
            <a:avLst>
              <a:gd fmla="val 11111" name="adj"/>
            </a:avLst>
          </a:prstGeom>
          <a:solidFill>
            <a:srgbClr val="EAF2F8"/>
          </a:solidFill>
          <a:ln cap="flat" cmpd="sng" w="12700">
            <a:solidFill>
              <a:srgbClr val="EAF2F8">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 name="Google Shape;146;p9"/>
          <p:cNvSpPr/>
          <p:nvPr/>
        </p:nvSpPr>
        <p:spPr>
          <a:xfrm>
            <a:off x="2286000" y="4962144"/>
            <a:ext cx="1179576"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747"/>
              </a:buClr>
              <a:buSzPts val="2400"/>
              <a:buFont typeface="Georgia"/>
              <a:buNone/>
            </a:pPr>
            <a:r>
              <a:rPr b="1" lang="en-US" sz="2400">
                <a:solidFill>
                  <a:srgbClr val="0F2747"/>
                </a:solidFill>
                <a:latin typeface="Georgia"/>
                <a:ea typeface="Georgia"/>
                <a:cs typeface="Georgia"/>
                <a:sym typeface="Georgia"/>
              </a:rPr>
              <a:t>p = 0.0418</a:t>
            </a:r>
            <a:endParaRPr sz="2400">
              <a:solidFill>
                <a:schemeClr val="dk1"/>
              </a:solidFill>
              <a:latin typeface="Calibri"/>
              <a:ea typeface="Calibri"/>
              <a:cs typeface="Calibri"/>
              <a:sym typeface="Calibri"/>
            </a:endParaRPr>
          </a:p>
        </p:txBody>
      </p:sp>
      <p:sp>
        <p:nvSpPr>
          <p:cNvPr id="147" name="Google Shape;147;p9"/>
          <p:cNvSpPr/>
          <p:nvPr/>
        </p:nvSpPr>
        <p:spPr>
          <a:xfrm>
            <a:off x="2304288" y="5468112"/>
            <a:ext cx="114300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C7A89"/>
              </a:buClr>
              <a:buSzPts val="1100"/>
              <a:buFont typeface="Calibri"/>
              <a:buNone/>
            </a:pPr>
            <a:r>
              <a:rPr lang="en-US" sz="1100">
                <a:solidFill>
                  <a:srgbClr val="6C7A89"/>
                </a:solidFill>
                <a:latin typeface="Calibri"/>
                <a:ea typeface="Calibri"/>
                <a:cs typeface="Calibri"/>
                <a:sym typeface="Calibri"/>
              </a:rPr>
              <a:t>statistical evidence</a:t>
            </a:r>
            <a:endParaRPr sz="1100">
              <a:solidFill>
                <a:schemeClr val="dk1"/>
              </a:solidFill>
              <a:latin typeface="Calibri"/>
              <a:ea typeface="Calibri"/>
              <a:cs typeface="Calibri"/>
              <a:sym typeface="Calibri"/>
            </a:endParaRPr>
          </a:p>
        </p:txBody>
      </p:sp>
      <p:sp>
        <p:nvSpPr>
          <p:cNvPr id="148" name="Google Shape;148;p9"/>
          <p:cNvSpPr/>
          <p:nvPr/>
        </p:nvSpPr>
        <p:spPr>
          <a:xfrm>
            <a:off x="3694176" y="4681728"/>
            <a:ext cx="4663440" cy="1084072"/>
          </a:xfrm>
          <a:prstGeom prst="roundRect">
            <a:avLst>
              <a:gd fmla="val 8696" name="adj"/>
            </a:avLst>
          </a:prstGeom>
          <a:solidFill>
            <a:srgbClr val="FFF3D6"/>
          </a:solidFill>
          <a:ln cap="flat" cmpd="sng" w="12700">
            <a:solidFill>
              <a:srgbClr val="FFF3D6">
                <a:alpha val="0"/>
              </a:srgbClr>
            </a:solidFill>
            <a:prstDash val="solid"/>
            <a:round/>
            <a:headEnd len="sm" w="sm" type="none"/>
            <a:tailEnd len="sm" w="sm" type="none"/>
          </a:ln>
          <a:effectLst>
            <a:outerShdw blurRad="25400" rotWithShape="0" algn="bl" dir="2700000" dist="127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9"/>
          <p:cNvSpPr/>
          <p:nvPr/>
        </p:nvSpPr>
        <p:spPr>
          <a:xfrm>
            <a:off x="3858768" y="4809744"/>
            <a:ext cx="43342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1500"/>
              <a:buFont typeface="Georgia"/>
              <a:buNone/>
            </a:pPr>
            <a:r>
              <a:rPr b="1" lang="en-US" sz="1500">
                <a:solidFill>
                  <a:srgbClr val="0F2747"/>
                </a:solidFill>
                <a:latin typeface="Georgia"/>
                <a:ea typeface="Georgia"/>
                <a:cs typeface="Georgia"/>
                <a:sym typeface="Georgia"/>
              </a:rPr>
              <a:t>Economic reading</a:t>
            </a:r>
            <a:endParaRPr sz="1500">
              <a:solidFill>
                <a:schemeClr val="dk1"/>
              </a:solidFill>
              <a:latin typeface="Calibri"/>
              <a:ea typeface="Calibri"/>
              <a:cs typeface="Calibri"/>
              <a:sym typeface="Calibri"/>
            </a:endParaRPr>
          </a:p>
        </p:txBody>
      </p:sp>
      <p:sp>
        <p:nvSpPr>
          <p:cNvPr id="150" name="Google Shape;150;p9"/>
          <p:cNvSpPr/>
          <p:nvPr/>
        </p:nvSpPr>
        <p:spPr>
          <a:xfrm>
            <a:off x="3858768" y="5102352"/>
            <a:ext cx="4334256"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3447"/>
              </a:buClr>
              <a:buSzPts val="1200"/>
              <a:buFont typeface="Calibri"/>
              <a:buNone/>
            </a:pPr>
            <a:r>
              <a:rPr lang="en-US" sz="1200">
                <a:solidFill>
                  <a:srgbClr val="243447"/>
                </a:solidFill>
                <a:latin typeface="Calibri"/>
                <a:ea typeface="Calibri"/>
                <a:cs typeface="Calibri"/>
                <a:sym typeface="Calibri"/>
              </a:rPr>
              <a:t>The same sentiment shock matters more for firms with weaker financing capacity and more exposure to investor mood.</a:t>
            </a:r>
            <a:endParaRPr sz="1200">
              <a:solidFill>
                <a:schemeClr val="dk1"/>
              </a:solidFill>
              <a:latin typeface="Calibri"/>
              <a:ea typeface="Calibri"/>
              <a:cs typeface="Calibri"/>
              <a:sym typeface="Calibri"/>
            </a:endParaRPr>
          </a:p>
        </p:txBody>
      </p:sp>
      <p:sp>
        <p:nvSpPr>
          <p:cNvPr id="151" name="Google Shape;151;p9"/>
          <p:cNvSpPr/>
          <p:nvPr/>
        </p:nvSpPr>
        <p:spPr>
          <a:xfrm>
            <a:off x="7635240" y="6446520"/>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C7A89"/>
              </a:buClr>
              <a:buSzPts val="900"/>
              <a:buFont typeface="Calibri"/>
              <a:buNone/>
            </a:pPr>
            <a:r>
              <a:rPr lang="en-US" sz="900">
                <a:solidFill>
                  <a:srgbClr val="6C7A89"/>
                </a:solidFill>
                <a:latin typeface="Calibri"/>
                <a:ea typeface="Calibri"/>
                <a:cs typeface="Calibri"/>
                <a:sym typeface="Calibri"/>
              </a:rPr>
              <a:t>2nd Row Team | 7/10</a:t>
            </a:r>
            <a:endParaRPr sz="9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1E8"/>
        </a:solidFill>
      </p:bgPr>
    </p:bg>
    <p:spTree>
      <p:nvGrpSpPr>
        <p:cNvPr id="156" name="Shape 156"/>
        <p:cNvGrpSpPr/>
        <p:nvPr/>
      </p:nvGrpSpPr>
      <p:grpSpPr>
        <a:xfrm>
          <a:off x="0" y="0"/>
          <a:ext cx="0" cy="0"/>
          <a:chOff x="0" y="0"/>
          <a:chExt cx="0" cy="0"/>
        </a:xfrm>
      </p:grpSpPr>
      <p:sp>
        <p:nvSpPr>
          <p:cNvPr id="157" name="Google Shape;157;p10"/>
          <p:cNvSpPr/>
          <p:nvPr/>
        </p:nvSpPr>
        <p:spPr>
          <a:xfrm>
            <a:off x="502920" y="365760"/>
            <a:ext cx="1920240" cy="310896"/>
          </a:xfrm>
          <a:prstGeom prst="roundRect">
            <a:avLst>
              <a:gd fmla="val 16667" name="adj"/>
            </a:avLst>
          </a:prstGeom>
          <a:solidFill>
            <a:srgbClr val="E6F7F6"/>
          </a:solidFill>
          <a:ln cap="flat" cmpd="sng" w="9525">
            <a:solidFill>
              <a:srgbClr val="E6F7F6">
                <a:alpha val="0"/>
              </a:srgbClr>
            </a:solidFill>
            <a:prstDash val="solid"/>
            <a:round/>
            <a:headEnd len="sm" w="sm" type="none"/>
            <a:tailEnd len="sm" w="sm" type="none"/>
          </a:ln>
        </p:spPr>
        <p:txBody>
          <a:bodyPr anchorCtr="0" anchor="ctr" bIns="750" lIns="750" spcFirstLastPara="1" rIns="750" wrap="square" tIns="750">
            <a:noAutofit/>
          </a:bodyPr>
          <a:lstStyle/>
          <a:p>
            <a:pPr indent="0" lvl="0" marL="0" marR="0" rtl="0" algn="ctr">
              <a:spcBef>
                <a:spcPts val="0"/>
              </a:spcBef>
              <a:spcAft>
                <a:spcPts val="0"/>
              </a:spcAft>
              <a:buClr>
                <a:srgbClr val="0C9DA5"/>
              </a:buClr>
              <a:buSzPts val="1100"/>
              <a:buFont typeface="Calibri"/>
              <a:buNone/>
            </a:pPr>
            <a:r>
              <a:rPr b="1" lang="en-US" sz="1100">
                <a:solidFill>
                  <a:srgbClr val="0C9DA5"/>
                </a:solidFill>
                <a:latin typeface="Calibri"/>
                <a:ea typeface="Calibri"/>
                <a:cs typeface="Calibri"/>
                <a:sym typeface="Calibri"/>
              </a:rPr>
              <a:t>Checks and caveats</a:t>
            </a:r>
            <a:endParaRPr sz="1100">
              <a:solidFill>
                <a:schemeClr val="dk1"/>
              </a:solidFill>
              <a:latin typeface="Calibri"/>
              <a:ea typeface="Calibri"/>
              <a:cs typeface="Calibri"/>
              <a:sym typeface="Calibri"/>
            </a:endParaRPr>
          </a:p>
        </p:txBody>
      </p:sp>
      <p:sp>
        <p:nvSpPr>
          <p:cNvPr id="158" name="Google Shape;158;p10"/>
          <p:cNvSpPr/>
          <p:nvPr/>
        </p:nvSpPr>
        <p:spPr>
          <a:xfrm>
            <a:off x="502920" y="749808"/>
            <a:ext cx="7863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2400"/>
              <a:buFont typeface="Georgia"/>
              <a:buNone/>
            </a:pPr>
            <a:r>
              <a:rPr b="1" lang="en-US" sz="2400">
                <a:solidFill>
                  <a:srgbClr val="0F2747"/>
                </a:solidFill>
                <a:latin typeface="Georgia"/>
                <a:ea typeface="Georgia"/>
                <a:cs typeface="Georgia"/>
                <a:sym typeface="Georgia"/>
              </a:rPr>
              <a:t>Diagnostics: the stronger story is robustness, not overclaiming</a:t>
            </a:r>
            <a:endParaRPr sz="2400">
              <a:solidFill>
                <a:schemeClr val="dk1"/>
              </a:solidFill>
              <a:latin typeface="Calibri"/>
              <a:ea typeface="Calibri"/>
              <a:cs typeface="Calibri"/>
              <a:sym typeface="Calibri"/>
            </a:endParaRPr>
          </a:p>
        </p:txBody>
      </p:sp>
      <p:cxnSp>
        <p:nvCxnSpPr>
          <p:cNvPr id="159" name="Google Shape;159;p10"/>
          <p:cNvCxnSpPr/>
          <p:nvPr/>
        </p:nvCxnSpPr>
        <p:spPr>
          <a:xfrm>
            <a:off x="502920" y="1389888"/>
            <a:ext cx="8229600" cy="0"/>
          </a:xfrm>
          <a:prstGeom prst="straightConnector1">
            <a:avLst/>
          </a:prstGeom>
          <a:noFill/>
          <a:ln cap="flat" cmpd="sng" w="15225">
            <a:solidFill>
              <a:srgbClr val="0C9DA5">
                <a:alpha val="74901"/>
              </a:srgbClr>
            </a:solidFill>
            <a:prstDash val="solid"/>
            <a:round/>
            <a:headEnd len="sm" w="sm" type="none"/>
            <a:tailEnd len="sm" w="sm" type="none"/>
          </a:ln>
        </p:spPr>
      </p:cxnSp>
      <p:pic>
        <p:nvPicPr>
          <p:cNvPr descr="/workspaces/qm2023-capstone-2nd-row-team/results/figures/m3v2_residuals_vs_fitted.png" id="160" name="Google Shape;160;p10"/>
          <p:cNvPicPr preferRelativeResize="0"/>
          <p:nvPr/>
        </p:nvPicPr>
        <p:blipFill rotWithShape="1">
          <a:blip r:embed="rId3">
            <a:alphaModFix/>
          </a:blip>
          <a:srcRect b="0" l="0" r="0" t="0"/>
          <a:stretch/>
        </p:blipFill>
        <p:spPr>
          <a:xfrm>
            <a:off x="502920" y="1737360"/>
            <a:ext cx="3703320" cy="2697480"/>
          </a:xfrm>
          <a:prstGeom prst="rect">
            <a:avLst/>
          </a:prstGeom>
          <a:noFill/>
          <a:ln>
            <a:noFill/>
          </a:ln>
        </p:spPr>
      </p:pic>
      <p:pic>
        <p:nvPicPr>
          <p:cNvPr descr="/workspaces/qm2023-capstone-2nd-row-team/results/figures/m3v2_coefficient_comparison.png" id="161" name="Google Shape;161;p10"/>
          <p:cNvPicPr preferRelativeResize="0"/>
          <p:nvPr/>
        </p:nvPicPr>
        <p:blipFill rotWithShape="1">
          <a:blip r:embed="rId4">
            <a:alphaModFix/>
          </a:blip>
          <a:srcRect b="0" l="0" r="0" t="0"/>
          <a:stretch/>
        </p:blipFill>
        <p:spPr>
          <a:xfrm>
            <a:off x="4462272" y="1737360"/>
            <a:ext cx="4160520" cy="2697480"/>
          </a:xfrm>
          <a:prstGeom prst="rect">
            <a:avLst/>
          </a:prstGeom>
          <a:noFill/>
          <a:ln>
            <a:noFill/>
          </a:ln>
        </p:spPr>
      </p:pic>
      <p:sp>
        <p:nvSpPr>
          <p:cNvPr id="162" name="Google Shape;162;p10"/>
          <p:cNvSpPr/>
          <p:nvPr/>
        </p:nvSpPr>
        <p:spPr>
          <a:xfrm>
            <a:off x="594350" y="4626885"/>
            <a:ext cx="1920300" cy="1506900"/>
          </a:xfrm>
          <a:prstGeom prst="roundRect">
            <a:avLst>
              <a:gd fmla="val 9302" name="adj"/>
            </a:avLst>
          </a:prstGeom>
          <a:solidFill>
            <a:srgbClr val="E6F7F6"/>
          </a:solidFill>
          <a:ln cap="flat" cmpd="sng" w="12700">
            <a:solidFill>
              <a:srgbClr val="E6F7F6">
                <a:alpha val="0"/>
              </a:srgbClr>
            </a:solidFill>
            <a:prstDash val="solid"/>
            <a:round/>
            <a:headEnd len="sm" w="sm" type="none"/>
            <a:tailEnd len="sm" w="sm" type="none"/>
          </a:ln>
          <a:effectLst>
            <a:outerShdw blurRad="25400" rotWithShape="0" algn="bl" dir="2700000" dist="127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10"/>
          <p:cNvSpPr/>
          <p:nvPr/>
        </p:nvSpPr>
        <p:spPr>
          <a:xfrm>
            <a:off x="758952" y="4754880"/>
            <a:ext cx="15910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1500"/>
              <a:buFont typeface="Georgia"/>
              <a:buNone/>
            </a:pPr>
            <a:r>
              <a:rPr b="1" lang="en-US" sz="1500">
                <a:solidFill>
                  <a:srgbClr val="0F2747"/>
                </a:solidFill>
                <a:latin typeface="Georgia"/>
                <a:ea typeface="Georgia"/>
                <a:cs typeface="Georgia"/>
                <a:sym typeface="Georgia"/>
              </a:rPr>
              <a:t>Breusch-Pagan</a:t>
            </a:r>
            <a:endParaRPr sz="1500">
              <a:solidFill>
                <a:schemeClr val="dk1"/>
              </a:solidFill>
              <a:latin typeface="Calibri"/>
              <a:ea typeface="Calibri"/>
              <a:cs typeface="Calibri"/>
              <a:sym typeface="Calibri"/>
            </a:endParaRPr>
          </a:p>
        </p:txBody>
      </p:sp>
      <p:sp>
        <p:nvSpPr>
          <p:cNvPr id="164" name="Google Shape;164;p10"/>
          <p:cNvSpPr/>
          <p:nvPr/>
        </p:nvSpPr>
        <p:spPr>
          <a:xfrm>
            <a:off x="758952" y="5047488"/>
            <a:ext cx="1591056"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3447"/>
              </a:buClr>
              <a:buSzPts val="1200"/>
              <a:buFont typeface="Calibri"/>
              <a:buNone/>
            </a:pPr>
            <a:r>
              <a:rPr lang="en-US" sz="1200">
                <a:solidFill>
                  <a:srgbClr val="243447"/>
                </a:solidFill>
                <a:latin typeface="Calibri"/>
                <a:ea typeface="Calibri"/>
                <a:cs typeface="Calibri"/>
                <a:sym typeface="Calibri"/>
              </a:rPr>
              <a:t>p = 0.8943</a:t>
            </a:r>
            <a:endParaRPr sz="1200">
              <a:solidFill>
                <a:schemeClr val="dk1"/>
              </a:solidFill>
              <a:latin typeface="Calibri"/>
              <a:ea typeface="Calibri"/>
              <a:cs typeface="Calibri"/>
              <a:sym typeface="Calibri"/>
            </a:endParaRPr>
          </a:p>
        </p:txBody>
      </p:sp>
      <p:sp>
        <p:nvSpPr>
          <p:cNvPr id="165" name="Google Shape;165;p10"/>
          <p:cNvSpPr/>
          <p:nvPr/>
        </p:nvSpPr>
        <p:spPr>
          <a:xfrm>
            <a:off x="2651750" y="4626885"/>
            <a:ext cx="1828800" cy="1506900"/>
          </a:xfrm>
          <a:prstGeom prst="roundRect">
            <a:avLst>
              <a:gd fmla="val 9302" name="adj"/>
            </a:avLst>
          </a:prstGeom>
          <a:solidFill>
            <a:srgbClr val="EAF2F8"/>
          </a:solidFill>
          <a:ln cap="flat" cmpd="sng" w="12700">
            <a:solidFill>
              <a:srgbClr val="EAF2F8">
                <a:alpha val="0"/>
              </a:srgbClr>
            </a:solidFill>
            <a:prstDash val="solid"/>
            <a:round/>
            <a:headEnd len="sm" w="sm" type="none"/>
            <a:tailEnd len="sm" w="sm" type="none"/>
          </a:ln>
          <a:effectLst>
            <a:outerShdw blurRad="25400" rotWithShape="0" algn="bl" dir="2700000" dist="127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 name="Google Shape;166;p10"/>
          <p:cNvSpPr/>
          <p:nvPr/>
        </p:nvSpPr>
        <p:spPr>
          <a:xfrm>
            <a:off x="2816352" y="4754880"/>
            <a:ext cx="14996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1500"/>
              <a:buFont typeface="Georgia"/>
              <a:buNone/>
            </a:pPr>
            <a:r>
              <a:rPr b="1" lang="en-US" sz="1500">
                <a:solidFill>
                  <a:srgbClr val="0F2747"/>
                </a:solidFill>
                <a:latin typeface="Georgia"/>
                <a:ea typeface="Georgia"/>
                <a:cs typeface="Georgia"/>
                <a:sym typeface="Georgia"/>
              </a:rPr>
              <a:t>Max VIF</a:t>
            </a:r>
            <a:endParaRPr sz="1500">
              <a:solidFill>
                <a:schemeClr val="dk1"/>
              </a:solidFill>
              <a:latin typeface="Calibri"/>
              <a:ea typeface="Calibri"/>
              <a:cs typeface="Calibri"/>
              <a:sym typeface="Calibri"/>
            </a:endParaRPr>
          </a:p>
        </p:txBody>
      </p:sp>
      <p:sp>
        <p:nvSpPr>
          <p:cNvPr id="167" name="Google Shape;167;p10"/>
          <p:cNvSpPr/>
          <p:nvPr/>
        </p:nvSpPr>
        <p:spPr>
          <a:xfrm>
            <a:off x="2816352" y="5047488"/>
            <a:ext cx="1499616"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3447"/>
              </a:buClr>
              <a:buSzPts val="1200"/>
              <a:buFont typeface="Calibri"/>
              <a:buNone/>
            </a:pPr>
            <a:r>
              <a:rPr lang="en-US" sz="1200">
                <a:solidFill>
                  <a:srgbClr val="243447"/>
                </a:solidFill>
                <a:latin typeface="Calibri"/>
                <a:ea typeface="Calibri"/>
                <a:cs typeface="Calibri"/>
                <a:sym typeface="Calibri"/>
              </a:rPr>
              <a:t>1.31</a:t>
            </a:r>
            <a:endParaRPr sz="1200">
              <a:solidFill>
                <a:schemeClr val="dk1"/>
              </a:solidFill>
              <a:latin typeface="Calibri"/>
              <a:ea typeface="Calibri"/>
              <a:cs typeface="Calibri"/>
              <a:sym typeface="Calibri"/>
            </a:endParaRPr>
          </a:p>
        </p:txBody>
      </p:sp>
      <p:sp>
        <p:nvSpPr>
          <p:cNvPr id="168" name="Google Shape;168;p10"/>
          <p:cNvSpPr/>
          <p:nvPr/>
        </p:nvSpPr>
        <p:spPr>
          <a:xfrm>
            <a:off x="4617725" y="4626885"/>
            <a:ext cx="1965900" cy="1506900"/>
          </a:xfrm>
          <a:prstGeom prst="roundRect">
            <a:avLst>
              <a:gd fmla="val 9302" name="adj"/>
            </a:avLst>
          </a:prstGeom>
          <a:solidFill>
            <a:srgbClr val="FFF3D6"/>
          </a:solidFill>
          <a:ln cap="flat" cmpd="sng" w="12700">
            <a:solidFill>
              <a:srgbClr val="FFF3D6">
                <a:alpha val="0"/>
              </a:srgbClr>
            </a:solidFill>
            <a:prstDash val="solid"/>
            <a:round/>
            <a:headEnd len="sm" w="sm" type="none"/>
            <a:tailEnd len="sm" w="sm" type="none"/>
          </a:ln>
          <a:effectLst>
            <a:outerShdw blurRad="25400" rotWithShape="0" algn="bl" dir="2700000" dist="127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10"/>
          <p:cNvSpPr/>
          <p:nvPr/>
        </p:nvSpPr>
        <p:spPr>
          <a:xfrm>
            <a:off x="4782312" y="4754880"/>
            <a:ext cx="16367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1500"/>
              <a:buFont typeface="Georgia"/>
              <a:buNone/>
            </a:pPr>
            <a:r>
              <a:rPr b="1" lang="en-US" sz="1500">
                <a:solidFill>
                  <a:srgbClr val="0F2747"/>
                </a:solidFill>
                <a:latin typeface="Georgia"/>
                <a:ea typeface="Georgia"/>
                <a:cs typeface="Georgia"/>
                <a:sym typeface="Georgia"/>
              </a:rPr>
              <a:t>Placebo check</a:t>
            </a:r>
            <a:endParaRPr sz="1500">
              <a:solidFill>
                <a:schemeClr val="dk1"/>
              </a:solidFill>
              <a:latin typeface="Calibri"/>
              <a:ea typeface="Calibri"/>
              <a:cs typeface="Calibri"/>
              <a:sym typeface="Calibri"/>
            </a:endParaRPr>
          </a:p>
        </p:txBody>
      </p:sp>
      <p:sp>
        <p:nvSpPr>
          <p:cNvPr id="170" name="Google Shape;170;p10"/>
          <p:cNvSpPr/>
          <p:nvPr/>
        </p:nvSpPr>
        <p:spPr>
          <a:xfrm>
            <a:off x="4782312" y="5047488"/>
            <a:ext cx="1636800" cy="25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3447"/>
              </a:buClr>
              <a:buSzPts val="1200"/>
              <a:buFont typeface="Calibri"/>
              <a:buNone/>
            </a:pPr>
            <a:r>
              <a:rPr lang="en-US" sz="1200">
                <a:solidFill>
                  <a:srgbClr val="243447"/>
                </a:solidFill>
                <a:latin typeface="Calibri"/>
                <a:ea typeface="Calibri"/>
                <a:cs typeface="Calibri"/>
                <a:sym typeface="Calibri"/>
              </a:rPr>
              <a:t>Weak pre-trend signal</a:t>
            </a:r>
            <a:endParaRPr sz="1200">
              <a:solidFill>
                <a:schemeClr val="dk1"/>
              </a:solidFill>
              <a:latin typeface="Calibri"/>
              <a:ea typeface="Calibri"/>
              <a:cs typeface="Calibri"/>
              <a:sym typeface="Calibri"/>
            </a:endParaRPr>
          </a:p>
        </p:txBody>
      </p:sp>
      <p:sp>
        <p:nvSpPr>
          <p:cNvPr id="171" name="Google Shape;171;p10"/>
          <p:cNvSpPr/>
          <p:nvPr/>
        </p:nvSpPr>
        <p:spPr>
          <a:xfrm>
            <a:off x="6748275" y="4626885"/>
            <a:ext cx="1810500" cy="1506900"/>
          </a:xfrm>
          <a:prstGeom prst="roundRect">
            <a:avLst>
              <a:gd fmla="val 9302" name="adj"/>
            </a:avLst>
          </a:prstGeom>
          <a:solidFill>
            <a:srgbClr val="FFFFFF"/>
          </a:solidFill>
          <a:ln cap="flat" cmpd="sng" w="12700">
            <a:solidFill>
              <a:srgbClr val="D7DDE4">
                <a:alpha val="0"/>
              </a:srgbClr>
            </a:solidFill>
            <a:prstDash val="solid"/>
            <a:round/>
            <a:headEnd len="sm" w="sm" type="none"/>
            <a:tailEnd len="sm" w="sm" type="none"/>
          </a:ln>
          <a:effectLst>
            <a:outerShdw blurRad="25400" rotWithShape="0" algn="bl" dir="2700000" dist="127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10"/>
          <p:cNvSpPr/>
          <p:nvPr/>
        </p:nvSpPr>
        <p:spPr>
          <a:xfrm>
            <a:off x="6912864" y="4754880"/>
            <a:ext cx="148132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1500"/>
              <a:buFont typeface="Georgia"/>
              <a:buNone/>
            </a:pPr>
            <a:r>
              <a:rPr b="1" lang="en-US" sz="1500">
                <a:solidFill>
                  <a:srgbClr val="0F2747"/>
                </a:solidFill>
                <a:latin typeface="Georgia"/>
                <a:ea typeface="Georgia"/>
                <a:cs typeface="Georgia"/>
                <a:sym typeface="Georgia"/>
              </a:rPr>
              <a:t>Bottom line</a:t>
            </a:r>
            <a:endParaRPr sz="1500">
              <a:solidFill>
                <a:schemeClr val="dk1"/>
              </a:solidFill>
              <a:latin typeface="Calibri"/>
              <a:ea typeface="Calibri"/>
              <a:cs typeface="Calibri"/>
              <a:sym typeface="Calibri"/>
            </a:endParaRPr>
          </a:p>
        </p:txBody>
      </p:sp>
      <p:sp>
        <p:nvSpPr>
          <p:cNvPr id="173" name="Google Shape;173;p10"/>
          <p:cNvSpPr/>
          <p:nvPr/>
        </p:nvSpPr>
        <p:spPr>
          <a:xfrm>
            <a:off x="6912864" y="5047488"/>
            <a:ext cx="1481328"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3447"/>
              </a:buClr>
              <a:buSzPts val="1200"/>
              <a:buFont typeface="Calibri"/>
              <a:buNone/>
            </a:pPr>
            <a:r>
              <a:rPr lang="en-US" sz="1200">
                <a:solidFill>
                  <a:srgbClr val="243447"/>
                </a:solidFill>
                <a:latin typeface="Calibri"/>
                <a:ea typeface="Calibri"/>
                <a:cs typeface="Calibri"/>
                <a:sym typeface="Calibri"/>
              </a:rPr>
              <a:t>No severe collinearity or heteroskedasticity red flags, but the aggregate alpha story stays weak.</a:t>
            </a:r>
            <a:endParaRPr sz="1200">
              <a:solidFill>
                <a:schemeClr val="dk1"/>
              </a:solidFill>
              <a:latin typeface="Calibri"/>
              <a:ea typeface="Calibri"/>
              <a:cs typeface="Calibri"/>
              <a:sym typeface="Calibri"/>
            </a:endParaRPr>
          </a:p>
        </p:txBody>
      </p:sp>
      <p:sp>
        <p:nvSpPr>
          <p:cNvPr id="174" name="Google Shape;174;p10"/>
          <p:cNvSpPr/>
          <p:nvPr/>
        </p:nvSpPr>
        <p:spPr>
          <a:xfrm>
            <a:off x="7635240" y="6446520"/>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C7A89"/>
              </a:buClr>
              <a:buSzPts val="900"/>
              <a:buFont typeface="Calibri"/>
              <a:buNone/>
            </a:pPr>
            <a:r>
              <a:rPr lang="en-US" sz="900">
                <a:solidFill>
                  <a:srgbClr val="6C7A89"/>
                </a:solidFill>
                <a:latin typeface="Calibri"/>
                <a:ea typeface="Calibri"/>
                <a:cs typeface="Calibri"/>
                <a:sym typeface="Calibri"/>
              </a:rPr>
              <a:t>2nd Row Team | 8/10</a:t>
            </a:r>
            <a:endParaRPr sz="9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747"/>
        </a:solidFill>
      </p:bgPr>
    </p:bg>
    <p:spTree>
      <p:nvGrpSpPr>
        <p:cNvPr id="179" name="Shape 179"/>
        <p:cNvGrpSpPr/>
        <p:nvPr/>
      </p:nvGrpSpPr>
      <p:grpSpPr>
        <a:xfrm>
          <a:off x="0" y="0"/>
          <a:ext cx="0" cy="0"/>
          <a:chOff x="0" y="0"/>
          <a:chExt cx="0" cy="0"/>
        </a:xfrm>
      </p:grpSpPr>
      <p:sp>
        <p:nvSpPr>
          <p:cNvPr id="180" name="Google Shape;180;p11"/>
          <p:cNvSpPr/>
          <p:nvPr/>
        </p:nvSpPr>
        <p:spPr>
          <a:xfrm>
            <a:off x="0" y="0"/>
            <a:ext cx="9144000" cy="5143500"/>
          </a:xfrm>
          <a:prstGeom prst="rect">
            <a:avLst/>
          </a:prstGeom>
          <a:solidFill>
            <a:srgbClr val="0F2747"/>
          </a:solidFill>
          <a:ln cap="flat" cmpd="sng" w="12700">
            <a:solidFill>
              <a:srgbClr val="0F274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11"/>
          <p:cNvSpPr/>
          <p:nvPr/>
        </p:nvSpPr>
        <p:spPr>
          <a:xfrm>
            <a:off x="594360" y="594360"/>
            <a:ext cx="72237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Georgia"/>
              <a:buNone/>
            </a:pPr>
            <a:r>
              <a:rPr b="1" lang="en-US" sz="2400">
                <a:solidFill>
                  <a:srgbClr val="FFFFFF"/>
                </a:solidFill>
                <a:latin typeface="Georgia"/>
                <a:ea typeface="Georgia"/>
                <a:cs typeface="Georgia"/>
                <a:sym typeface="Georgia"/>
              </a:rPr>
              <a:t>Recommendation: treat sentiment as a risk-budget overlay</a:t>
            </a:r>
            <a:endParaRPr sz="2400">
              <a:solidFill>
                <a:schemeClr val="dk1"/>
              </a:solidFill>
              <a:latin typeface="Calibri"/>
              <a:ea typeface="Calibri"/>
              <a:cs typeface="Calibri"/>
              <a:sym typeface="Calibri"/>
            </a:endParaRPr>
          </a:p>
        </p:txBody>
      </p:sp>
      <p:sp>
        <p:nvSpPr>
          <p:cNvPr id="182" name="Google Shape;182;p11"/>
          <p:cNvSpPr/>
          <p:nvPr/>
        </p:nvSpPr>
        <p:spPr>
          <a:xfrm>
            <a:off x="621792" y="1234440"/>
            <a:ext cx="6309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E3F0"/>
              </a:buClr>
              <a:buSzPts val="1300"/>
              <a:buFont typeface="Calibri"/>
              <a:buNone/>
            </a:pPr>
            <a:r>
              <a:rPr lang="en-US" sz="1300">
                <a:solidFill>
                  <a:srgbClr val="D7E3F0"/>
                </a:solidFill>
                <a:latin typeface="Calibri"/>
                <a:ea typeface="Calibri"/>
                <a:cs typeface="Calibri"/>
                <a:sym typeface="Calibri"/>
              </a:rPr>
              <a:t>Use it to adjust exposure, not to predict the next monthly return.</a:t>
            </a:r>
            <a:endParaRPr sz="1300">
              <a:solidFill>
                <a:schemeClr val="dk1"/>
              </a:solidFill>
              <a:latin typeface="Calibri"/>
              <a:ea typeface="Calibri"/>
              <a:cs typeface="Calibri"/>
              <a:sym typeface="Calibri"/>
            </a:endParaRPr>
          </a:p>
        </p:txBody>
      </p:sp>
      <p:sp>
        <p:nvSpPr>
          <p:cNvPr id="183" name="Google Shape;183;p11"/>
          <p:cNvSpPr/>
          <p:nvPr/>
        </p:nvSpPr>
        <p:spPr>
          <a:xfrm>
            <a:off x="640080" y="1874520"/>
            <a:ext cx="2606040" cy="1783080"/>
          </a:xfrm>
          <a:prstGeom prst="roundRect">
            <a:avLst>
              <a:gd fmla="val 4103" name="adj"/>
            </a:avLst>
          </a:prstGeom>
          <a:solidFill>
            <a:srgbClr val="FFFFFF"/>
          </a:solidFill>
          <a:ln cap="flat" cmpd="sng" w="12700">
            <a:solidFill>
              <a:srgbClr val="FFFFFF">
                <a:alpha val="0"/>
              </a:srgbClr>
            </a:solidFill>
            <a:prstDash val="solid"/>
            <a:round/>
            <a:headEnd len="sm" w="sm" type="none"/>
            <a:tailEnd len="sm" w="sm" type="none"/>
          </a:ln>
          <a:effectLst>
            <a:outerShdw blurRad="25400" rotWithShape="0" algn="bl" dir="2700000" dist="12700">
              <a:srgbClr val="000000">
                <a:alpha val="2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11"/>
          <p:cNvSpPr/>
          <p:nvPr/>
        </p:nvSpPr>
        <p:spPr>
          <a:xfrm>
            <a:off x="804672" y="2002536"/>
            <a:ext cx="22768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1500"/>
              <a:buFont typeface="Georgia"/>
              <a:buNone/>
            </a:pPr>
            <a:r>
              <a:rPr b="1" lang="en-US" sz="1500">
                <a:solidFill>
                  <a:srgbClr val="0F2747"/>
                </a:solidFill>
                <a:latin typeface="Georgia"/>
                <a:ea typeface="Georgia"/>
                <a:cs typeface="Georgia"/>
                <a:sym typeface="Georgia"/>
              </a:rPr>
              <a:t>If sentiment improves after a shock</a:t>
            </a:r>
            <a:endParaRPr sz="1500">
              <a:solidFill>
                <a:schemeClr val="dk1"/>
              </a:solidFill>
              <a:latin typeface="Calibri"/>
              <a:ea typeface="Calibri"/>
              <a:cs typeface="Calibri"/>
              <a:sym typeface="Calibri"/>
            </a:endParaRPr>
          </a:p>
        </p:txBody>
      </p:sp>
      <p:sp>
        <p:nvSpPr>
          <p:cNvPr id="185" name="Google Shape;185;p11"/>
          <p:cNvSpPr/>
          <p:nvPr/>
        </p:nvSpPr>
        <p:spPr>
          <a:xfrm>
            <a:off x="804672" y="2421890"/>
            <a:ext cx="2276856" cy="12527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3447"/>
              </a:buClr>
              <a:buSzPts val="1200"/>
              <a:buFont typeface="Calibri"/>
              <a:buNone/>
            </a:pPr>
            <a:r>
              <a:rPr lang="en-US" sz="1200">
                <a:solidFill>
                  <a:srgbClr val="243447"/>
                </a:solidFill>
                <a:latin typeface="Calibri"/>
                <a:ea typeface="Calibri"/>
                <a:cs typeface="Calibri"/>
                <a:sym typeface="Calibri"/>
              </a:rPr>
              <a:t>Tilt modestly toward smaller, more sentiment-sensitive firms. That is where the panel model says the exposure is strongest.</a:t>
            </a:r>
            <a:endParaRPr sz="1200">
              <a:solidFill>
                <a:schemeClr val="dk1"/>
              </a:solidFill>
              <a:latin typeface="Calibri"/>
              <a:ea typeface="Calibri"/>
              <a:cs typeface="Calibri"/>
              <a:sym typeface="Calibri"/>
            </a:endParaRPr>
          </a:p>
        </p:txBody>
      </p:sp>
      <p:sp>
        <p:nvSpPr>
          <p:cNvPr id="186" name="Google Shape;186;p11"/>
          <p:cNvSpPr/>
          <p:nvPr/>
        </p:nvSpPr>
        <p:spPr>
          <a:xfrm>
            <a:off x="3264408" y="1874520"/>
            <a:ext cx="2606040" cy="1783080"/>
          </a:xfrm>
          <a:prstGeom prst="roundRect">
            <a:avLst>
              <a:gd fmla="val 4103" name="adj"/>
            </a:avLst>
          </a:prstGeom>
          <a:solidFill>
            <a:srgbClr val="E6F7F6"/>
          </a:solidFill>
          <a:ln cap="flat" cmpd="sng" w="12700">
            <a:solidFill>
              <a:srgbClr val="E6F7F6">
                <a:alpha val="0"/>
              </a:srgbClr>
            </a:solidFill>
            <a:prstDash val="solid"/>
            <a:round/>
            <a:headEnd len="sm" w="sm" type="none"/>
            <a:tailEnd len="sm" w="sm" type="none"/>
          </a:ln>
          <a:effectLst>
            <a:outerShdw blurRad="25400" rotWithShape="0" algn="bl" dir="2700000" dist="12700">
              <a:srgbClr val="000000">
                <a:alpha val="2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11"/>
          <p:cNvSpPr/>
          <p:nvPr/>
        </p:nvSpPr>
        <p:spPr>
          <a:xfrm>
            <a:off x="3429000" y="2002536"/>
            <a:ext cx="22768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1500"/>
              <a:buFont typeface="Georgia"/>
              <a:buNone/>
            </a:pPr>
            <a:r>
              <a:rPr b="1" lang="en-US" sz="1500">
                <a:solidFill>
                  <a:srgbClr val="0F2747"/>
                </a:solidFill>
                <a:latin typeface="Georgia"/>
                <a:ea typeface="Georgia"/>
                <a:cs typeface="Georgia"/>
                <a:sym typeface="Georgia"/>
              </a:rPr>
              <a:t>If sentiment weakens in stress</a:t>
            </a:r>
            <a:endParaRPr sz="1500">
              <a:solidFill>
                <a:schemeClr val="dk1"/>
              </a:solidFill>
              <a:latin typeface="Calibri"/>
              <a:ea typeface="Calibri"/>
              <a:cs typeface="Calibri"/>
              <a:sym typeface="Calibri"/>
            </a:endParaRPr>
          </a:p>
        </p:txBody>
      </p:sp>
      <p:sp>
        <p:nvSpPr>
          <p:cNvPr id="188" name="Google Shape;188;p11"/>
          <p:cNvSpPr/>
          <p:nvPr/>
        </p:nvSpPr>
        <p:spPr>
          <a:xfrm>
            <a:off x="3429000" y="2421890"/>
            <a:ext cx="2276856" cy="12527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3447"/>
              </a:buClr>
              <a:buSzPts val="1200"/>
              <a:buFont typeface="Calibri"/>
              <a:buNone/>
            </a:pPr>
            <a:r>
              <a:rPr lang="en-US" sz="1200">
                <a:solidFill>
                  <a:srgbClr val="243447"/>
                </a:solidFill>
                <a:latin typeface="Calibri"/>
                <a:ea typeface="Calibri"/>
                <a:cs typeface="Calibri"/>
                <a:sym typeface="Calibri"/>
              </a:rPr>
              <a:t>Reduce exposure to the most financing-sensitive names and keep the core book diversified.</a:t>
            </a:r>
            <a:endParaRPr sz="1200">
              <a:solidFill>
                <a:schemeClr val="dk1"/>
              </a:solidFill>
              <a:latin typeface="Calibri"/>
              <a:ea typeface="Calibri"/>
              <a:cs typeface="Calibri"/>
              <a:sym typeface="Calibri"/>
            </a:endParaRPr>
          </a:p>
        </p:txBody>
      </p:sp>
      <p:sp>
        <p:nvSpPr>
          <p:cNvPr id="189" name="Google Shape;189;p11"/>
          <p:cNvSpPr/>
          <p:nvPr/>
        </p:nvSpPr>
        <p:spPr>
          <a:xfrm>
            <a:off x="5888736" y="1874520"/>
            <a:ext cx="2606040" cy="1783080"/>
          </a:xfrm>
          <a:prstGeom prst="roundRect">
            <a:avLst>
              <a:gd fmla="val 4103" name="adj"/>
            </a:avLst>
          </a:prstGeom>
          <a:solidFill>
            <a:srgbClr val="FFF3D6"/>
          </a:solidFill>
          <a:ln cap="flat" cmpd="sng" w="12700">
            <a:solidFill>
              <a:srgbClr val="FFF3D6">
                <a:alpha val="0"/>
              </a:srgbClr>
            </a:solidFill>
            <a:prstDash val="solid"/>
            <a:round/>
            <a:headEnd len="sm" w="sm" type="none"/>
            <a:tailEnd len="sm" w="sm" type="none"/>
          </a:ln>
          <a:effectLst>
            <a:outerShdw blurRad="25400" rotWithShape="0" algn="bl" dir="2700000" dist="12700">
              <a:srgbClr val="000000">
                <a:alpha val="2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11"/>
          <p:cNvSpPr/>
          <p:nvPr/>
        </p:nvSpPr>
        <p:spPr>
          <a:xfrm>
            <a:off x="6053328" y="2002536"/>
            <a:ext cx="22768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1500"/>
              <a:buFont typeface="Georgia"/>
              <a:buNone/>
            </a:pPr>
            <a:r>
              <a:rPr b="1" lang="en-US" sz="1500">
                <a:solidFill>
                  <a:srgbClr val="0F2747"/>
                </a:solidFill>
                <a:latin typeface="Georgia"/>
                <a:ea typeface="Georgia"/>
                <a:cs typeface="Georgia"/>
                <a:sym typeface="Georgia"/>
              </a:rPr>
              <a:t>If the committee wants a hedge</a:t>
            </a:r>
            <a:endParaRPr sz="1500">
              <a:solidFill>
                <a:schemeClr val="dk1"/>
              </a:solidFill>
              <a:latin typeface="Calibri"/>
              <a:ea typeface="Calibri"/>
              <a:cs typeface="Calibri"/>
              <a:sym typeface="Calibri"/>
            </a:endParaRPr>
          </a:p>
        </p:txBody>
      </p:sp>
      <p:sp>
        <p:nvSpPr>
          <p:cNvPr id="191" name="Google Shape;191;p11"/>
          <p:cNvSpPr/>
          <p:nvPr/>
        </p:nvSpPr>
        <p:spPr>
          <a:xfrm>
            <a:off x="6053328" y="2430018"/>
            <a:ext cx="2276856" cy="12527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3447"/>
              </a:buClr>
              <a:buSzPts val="1200"/>
              <a:buFont typeface="Calibri"/>
              <a:buNone/>
            </a:pPr>
            <a:r>
              <a:rPr lang="en-US" sz="1200">
                <a:solidFill>
                  <a:srgbClr val="243447"/>
                </a:solidFill>
                <a:latin typeface="Calibri"/>
                <a:ea typeface="Calibri"/>
                <a:cs typeface="Calibri"/>
                <a:sym typeface="Calibri"/>
              </a:rPr>
              <a:t>Use quality or lower leverage tilts. Sentiment itself should not be carrying all the forecasting weight.</a:t>
            </a:r>
            <a:endParaRPr sz="1200">
              <a:solidFill>
                <a:schemeClr val="dk1"/>
              </a:solidFill>
              <a:latin typeface="Calibri"/>
              <a:ea typeface="Calibri"/>
              <a:cs typeface="Calibri"/>
              <a:sym typeface="Calibri"/>
            </a:endParaRPr>
          </a:p>
        </p:txBody>
      </p:sp>
      <p:sp>
        <p:nvSpPr>
          <p:cNvPr id="192" name="Google Shape;192;p11"/>
          <p:cNvSpPr/>
          <p:nvPr/>
        </p:nvSpPr>
        <p:spPr>
          <a:xfrm>
            <a:off x="3931920" y="4160520"/>
            <a:ext cx="1280160" cy="411480"/>
          </a:xfrm>
          <a:prstGeom prst="chevron">
            <a:avLst>
              <a:gd fmla="val 50000" name="adj"/>
            </a:avLst>
          </a:prstGeom>
          <a:solidFill>
            <a:srgbClr val="0C9DA5"/>
          </a:solidFill>
          <a:ln cap="flat" cmpd="sng" w="12700">
            <a:solidFill>
              <a:srgbClr val="0C9DA5">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11"/>
          <p:cNvSpPr/>
          <p:nvPr/>
        </p:nvSpPr>
        <p:spPr>
          <a:xfrm>
            <a:off x="3017520" y="4206240"/>
            <a:ext cx="310896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7E3F0"/>
              </a:buClr>
              <a:buSzPts val="1100"/>
              <a:buFont typeface="Calibri"/>
              <a:buNone/>
            </a:pPr>
            <a:r>
              <a:rPr b="1" lang="en-US" sz="1100">
                <a:solidFill>
                  <a:srgbClr val="D7E3F0"/>
                </a:solidFill>
                <a:latin typeface="Calibri"/>
                <a:ea typeface="Calibri"/>
                <a:cs typeface="Calibri"/>
                <a:sym typeface="Calibri"/>
              </a:rPr>
              <a:t>Regime shift → allocation tilt</a:t>
            </a:r>
            <a:endParaRPr sz="1100">
              <a:solidFill>
                <a:schemeClr val="dk1"/>
              </a:solidFill>
              <a:latin typeface="Calibri"/>
              <a:ea typeface="Calibri"/>
              <a:cs typeface="Calibri"/>
              <a:sym typeface="Calibri"/>
            </a:endParaRPr>
          </a:p>
        </p:txBody>
      </p:sp>
      <p:sp>
        <p:nvSpPr>
          <p:cNvPr id="194" name="Google Shape;194;p11"/>
          <p:cNvSpPr/>
          <p:nvPr/>
        </p:nvSpPr>
        <p:spPr>
          <a:xfrm>
            <a:off x="7635240" y="6446520"/>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DE7F2"/>
              </a:buClr>
              <a:buSzPts val="900"/>
              <a:buFont typeface="Calibri"/>
              <a:buNone/>
            </a:pPr>
            <a:r>
              <a:rPr lang="en-US" sz="900">
                <a:solidFill>
                  <a:srgbClr val="DDE7F2"/>
                </a:solidFill>
                <a:latin typeface="Calibri"/>
                <a:ea typeface="Calibri"/>
                <a:cs typeface="Calibri"/>
                <a:sym typeface="Calibri"/>
              </a:rPr>
              <a:t>2nd Row Team | 9/11</a:t>
            </a:r>
            <a:endParaRPr sz="9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1E8"/>
        </a:solidFill>
      </p:bgPr>
    </p:bg>
    <p:spTree>
      <p:nvGrpSpPr>
        <p:cNvPr id="199" name="Shape 199"/>
        <p:cNvGrpSpPr/>
        <p:nvPr/>
      </p:nvGrpSpPr>
      <p:grpSpPr>
        <a:xfrm>
          <a:off x="0" y="0"/>
          <a:ext cx="0" cy="0"/>
          <a:chOff x="0" y="0"/>
          <a:chExt cx="0" cy="0"/>
        </a:xfrm>
      </p:grpSpPr>
      <p:sp>
        <p:nvSpPr>
          <p:cNvPr id="200" name="Google Shape;200;p12"/>
          <p:cNvSpPr/>
          <p:nvPr/>
        </p:nvSpPr>
        <p:spPr>
          <a:xfrm>
            <a:off x="502920" y="365760"/>
            <a:ext cx="1920300" cy="310800"/>
          </a:xfrm>
          <a:prstGeom prst="roundRect">
            <a:avLst>
              <a:gd fmla="val 16667" name="adj"/>
            </a:avLst>
          </a:prstGeom>
          <a:solidFill>
            <a:srgbClr val="E6F7F6"/>
          </a:solidFill>
          <a:ln cap="flat" cmpd="sng" w="9525">
            <a:solidFill>
              <a:srgbClr val="E6F7F6">
                <a:alpha val="0"/>
              </a:srgbClr>
            </a:solidFill>
            <a:prstDash val="solid"/>
            <a:round/>
            <a:headEnd len="sm" w="sm" type="none"/>
            <a:tailEnd len="sm" w="sm" type="none"/>
          </a:ln>
        </p:spPr>
        <p:txBody>
          <a:bodyPr anchorCtr="0" anchor="ctr" bIns="750" lIns="750" spcFirstLastPara="1" rIns="750" wrap="square" tIns="750">
            <a:noAutofit/>
          </a:bodyPr>
          <a:lstStyle/>
          <a:p>
            <a:pPr indent="0" lvl="0" marL="0" marR="0" rtl="0" algn="ctr">
              <a:spcBef>
                <a:spcPts val="0"/>
              </a:spcBef>
              <a:spcAft>
                <a:spcPts val="0"/>
              </a:spcAft>
              <a:buClr>
                <a:srgbClr val="0C9DA5"/>
              </a:buClr>
              <a:buSzPts val="1100"/>
              <a:buFont typeface="Calibri"/>
              <a:buNone/>
            </a:pPr>
            <a:r>
              <a:rPr b="1" lang="en-US" sz="1100">
                <a:solidFill>
                  <a:srgbClr val="0C9DA5"/>
                </a:solidFill>
                <a:latin typeface="Calibri"/>
                <a:ea typeface="Calibri"/>
                <a:cs typeface="Calibri"/>
                <a:sym typeface="Calibri"/>
              </a:rPr>
              <a:t>Our Story</a:t>
            </a:r>
            <a:endParaRPr sz="1100">
              <a:solidFill>
                <a:schemeClr val="dk1"/>
              </a:solidFill>
              <a:latin typeface="Calibri"/>
              <a:ea typeface="Calibri"/>
              <a:cs typeface="Calibri"/>
              <a:sym typeface="Calibri"/>
            </a:endParaRPr>
          </a:p>
        </p:txBody>
      </p:sp>
      <p:sp>
        <p:nvSpPr>
          <p:cNvPr id="201" name="Google Shape;201;p12"/>
          <p:cNvSpPr/>
          <p:nvPr/>
        </p:nvSpPr>
        <p:spPr>
          <a:xfrm>
            <a:off x="502920" y="749808"/>
            <a:ext cx="78639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747"/>
              </a:buClr>
              <a:buSzPts val="2400"/>
              <a:buFont typeface="Georgia"/>
              <a:buNone/>
            </a:pPr>
            <a:r>
              <a:rPr b="1" lang="en-US" sz="2400">
                <a:solidFill>
                  <a:srgbClr val="0F2747"/>
                </a:solidFill>
                <a:latin typeface="Georgia"/>
                <a:ea typeface="Georgia"/>
                <a:cs typeface="Georgia"/>
                <a:sym typeface="Georgia"/>
              </a:rPr>
              <a:t>Challenges in this Project</a:t>
            </a:r>
            <a:endParaRPr sz="2400">
              <a:solidFill>
                <a:schemeClr val="dk1"/>
              </a:solidFill>
              <a:latin typeface="Calibri"/>
              <a:ea typeface="Calibri"/>
              <a:cs typeface="Calibri"/>
              <a:sym typeface="Calibri"/>
            </a:endParaRPr>
          </a:p>
        </p:txBody>
      </p:sp>
      <p:cxnSp>
        <p:nvCxnSpPr>
          <p:cNvPr id="202" name="Google Shape;202;p12"/>
          <p:cNvCxnSpPr/>
          <p:nvPr/>
        </p:nvCxnSpPr>
        <p:spPr>
          <a:xfrm>
            <a:off x="502920" y="1389888"/>
            <a:ext cx="8229600" cy="0"/>
          </a:xfrm>
          <a:prstGeom prst="straightConnector1">
            <a:avLst/>
          </a:prstGeom>
          <a:noFill/>
          <a:ln cap="flat" cmpd="sng" w="15225">
            <a:solidFill>
              <a:srgbClr val="0C9DA5">
                <a:alpha val="74900"/>
              </a:srgbClr>
            </a:solidFill>
            <a:prstDash val="solid"/>
            <a:round/>
            <a:headEnd len="sm" w="sm" type="none"/>
            <a:tailEnd len="sm" w="sm" type="none"/>
          </a:ln>
        </p:spPr>
      </p:cxnSp>
      <p:sp>
        <p:nvSpPr>
          <p:cNvPr id="203" name="Google Shape;203;p12"/>
          <p:cNvSpPr/>
          <p:nvPr/>
        </p:nvSpPr>
        <p:spPr>
          <a:xfrm>
            <a:off x="502925" y="1598975"/>
            <a:ext cx="4494300" cy="844200"/>
          </a:xfrm>
          <a:prstGeom prst="roundRect">
            <a:avLst>
              <a:gd fmla="val 8696" name="adj"/>
            </a:avLst>
          </a:prstGeom>
          <a:solidFill>
            <a:srgbClr val="FFFFFF"/>
          </a:solidFill>
          <a:ln cap="flat" cmpd="sng" w="12700">
            <a:solidFill>
              <a:srgbClr val="EAF2F8">
                <a:alpha val="0"/>
              </a:srgbClr>
            </a:solidFill>
            <a:prstDash val="solid"/>
            <a:round/>
            <a:headEnd len="sm" w="sm" type="none"/>
            <a:tailEnd len="sm" w="sm" type="none"/>
          </a:ln>
          <a:effectLst>
            <a:outerShdw blurRad="25400" rotWithShape="0" algn="bl" dir="2700000" dist="12700">
              <a:srgbClr val="000000">
                <a:alpha val="1216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12"/>
          <p:cNvSpPr/>
          <p:nvPr/>
        </p:nvSpPr>
        <p:spPr>
          <a:xfrm>
            <a:off x="502925" y="2531025"/>
            <a:ext cx="4494300" cy="844200"/>
          </a:xfrm>
          <a:prstGeom prst="roundRect">
            <a:avLst>
              <a:gd fmla="val 8696" name="adj"/>
            </a:avLst>
          </a:prstGeom>
          <a:solidFill>
            <a:srgbClr val="FFF3D6"/>
          </a:solidFill>
          <a:ln cap="flat" cmpd="sng" w="12700">
            <a:solidFill>
              <a:srgbClr val="FFF3D6">
                <a:alpha val="0"/>
              </a:srgbClr>
            </a:solidFill>
            <a:prstDash val="solid"/>
            <a:round/>
            <a:headEnd len="sm" w="sm" type="none"/>
            <a:tailEnd len="sm" w="sm" type="none"/>
          </a:ln>
          <a:effectLst>
            <a:outerShdw blurRad="25400" rotWithShape="0" algn="bl" dir="2700000" dist="12700">
              <a:srgbClr val="000000">
                <a:alpha val="1216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12"/>
          <p:cNvSpPr/>
          <p:nvPr/>
        </p:nvSpPr>
        <p:spPr>
          <a:xfrm>
            <a:off x="502925" y="3541815"/>
            <a:ext cx="4494300" cy="1299000"/>
          </a:xfrm>
          <a:prstGeom prst="roundRect">
            <a:avLst>
              <a:gd fmla="val 7273" name="adj"/>
            </a:avLst>
          </a:prstGeom>
          <a:solidFill>
            <a:srgbClr val="E6F7F6"/>
          </a:solidFill>
          <a:ln cap="flat" cmpd="sng" w="12700">
            <a:solidFill>
              <a:srgbClr val="E6F7F6">
                <a:alpha val="0"/>
              </a:srgbClr>
            </a:solidFill>
            <a:prstDash val="solid"/>
            <a:round/>
            <a:headEnd len="sm" w="sm" type="none"/>
            <a:tailEnd len="sm" w="sm" type="none"/>
          </a:ln>
          <a:effectLst>
            <a:outerShdw blurRad="25400" rotWithShape="0" algn="bl" dir="2700000" dist="12700">
              <a:srgbClr val="000000">
                <a:alpha val="1216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 name="Google Shape;206;p12"/>
          <p:cNvSpPr/>
          <p:nvPr/>
        </p:nvSpPr>
        <p:spPr>
          <a:xfrm>
            <a:off x="667517" y="1698891"/>
            <a:ext cx="3739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500">
                <a:solidFill>
                  <a:srgbClr val="0F2747"/>
                </a:solidFill>
                <a:latin typeface="Georgia"/>
                <a:ea typeface="Georgia"/>
                <a:cs typeface="Georgia"/>
                <a:sym typeface="Georgia"/>
              </a:rPr>
              <a:t>Producing the Pipeline</a:t>
            </a:r>
            <a:endParaRPr sz="1500">
              <a:solidFill>
                <a:schemeClr val="dk1"/>
              </a:solidFill>
              <a:latin typeface="Calibri"/>
              <a:ea typeface="Calibri"/>
              <a:cs typeface="Calibri"/>
              <a:sym typeface="Calibri"/>
            </a:endParaRPr>
          </a:p>
        </p:txBody>
      </p:sp>
      <p:sp>
        <p:nvSpPr>
          <p:cNvPr id="207" name="Google Shape;207;p12"/>
          <p:cNvSpPr/>
          <p:nvPr/>
        </p:nvSpPr>
        <p:spPr>
          <a:xfrm>
            <a:off x="667525" y="1991500"/>
            <a:ext cx="4127100" cy="451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3447"/>
              </a:buClr>
              <a:buSzPts val="1200"/>
              <a:buFont typeface="Calibri"/>
              <a:buNone/>
            </a:pPr>
            <a:r>
              <a:rPr lang="en-US" sz="1200">
                <a:solidFill>
                  <a:srgbClr val="243447"/>
                </a:solidFill>
                <a:latin typeface="Calibri"/>
                <a:ea typeface="Calibri"/>
                <a:cs typeface="Calibri"/>
                <a:sym typeface="Calibri"/>
              </a:rPr>
              <a:t>Michigan data did not want to download, sentiment scores were in different indexes, and the pipeline had to be reworked 3 times</a:t>
            </a:r>
            <a:endParaRPr sz="1200">
              <a:solidFill>
                <a:schemeClr val="dk1"/>
              </a:solidFill>
              <a:latin typeface="Calibri"/>
              <a:ea typeface="Calibri"/>
              <a:cs typeface="Calibri"/>
              <a:sym typeface="Calibri"/>
            </a:endParaRPr>
          </a:p>
        </p:txBody>
      </p:sp>
      <p:sp>
        <p:nvSpPr>
          <p:cNvPr id="208" name="Google Shape;208;p12"/>
          <p:cNvSpPr/>
          <p:nvPr/>
        </p:nvSpPr>
        <p:spPr>
          <a:xfrm>
            <a:off x="646735" y="2566081"/>
            <a:ext cx="3739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500">
                <a:solidFill>
                  <a:srgbClr val="0F2747"/>
                </a:solidFill>
                <a:latin typeface="Georgia"/>
                <a:ea typeface="Georgia"/>
                <a:cs typeface="Georgia"/>
                <a:sym typeface="Georgia"/>
              </a:rPr>
              <a:t>Missing Panel Data</a:t>
            </a:r>
            <a:endParaRPr sz="1500">
              <a:solidFill>
                <a:schemeClr val="dk1"/>
              </a:solidFill>
              <a:latin typeface="Calibri"/>
              <a:ea typeface="Calibri"/>
              <a:cs typeface="Calibri"/>
              <a:sym typeface="Calibri"/>
            </a:endParaRPr>
          </a:p>
        </p:txBody>
      </p:sp>
      <p:sp>
        <p:nvSpPr>
          <p:cNvPr id="209" name="Google Shape;209;p12"/>
          <p:cNvSpPr/>
          <p:nvPr/>
        </p:nvSpPr>
        <p:spPr>
          <a:xfrm>
            <a:off x="646725" y="2858684"/>
            <a:ext cx="3739800" cy="509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3447"/>
              </a:buClr>
              <a:buSzPts val="1200"/>
              <a:buFont typeface="Calibri"/>
              <a:buNone/>
            </a:pPr>
            <a:r>
              <a:rPr lang="en-US" sz="1200">
                <a:solidFill>
                  <a:srgbClr val="243447"/>
                </a:solidFill>
                <a:latin typeface="Calibri"/>
                <a:ea typeface="Calibri"/>
                <a:cs typeface="Calibri"/>
                <a:sym typeface="Calibri"/>
              </a:rPr>
              <a:t>Given that market returns had only one data point from one “entity” per month, panel data was not applicable</a:t>
            </a:r>
            <a:endParaRPr sz="1200">
              <a:solidFill>
                <a:schemeClr val="dk1"/>
              </a:solidFill>
              <a:latin typeface="Calibri"/>
              <a:ea typeface="Calibri"/>
              <a:cs typeface="Calibri"/>
              <a:sym typeface="Calibri"/>
            </a:endParaRPr>
          </a:p>
        </p:txBody>
      </p:sp>
      <p:sp>
        <p:nvSpPr>
          <p:cNvPr id="210" name="Google Shape;210;p12"/>
          <p:cNvSpPr/>
          <p:nvPr/>
        </p:nvSpPr>
        <p:spPr>
          <a:xfrm>
            <a:off x="667517" y="3541806"/>
            <a:ext cx="3739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500">
                <a:solidFill>
                  <a:srgbClr val="0F2747"/>
                </a:solidFill>
                <a:latin typeface="Georgia"/>
                <a:ea typeface="Georgia"/>
                <a:cs typeface="Georgia"/>
                <a:sym typeface="Georgia"/>
              </a:rPr>
              <a:t>Lack of Firm-Spefic Data</a:t>
            </a:r>
            <a:endParaRPr sz="1500">
              <a:solidFill>
                <a:schemeClr val="dk1"/>
              </a:solidFill>
              <a:latin typeface="Calibri"/>
              <a:ea typeface="Calibri"/>
              <a:cs typeface="Calibri"/>
              <a:sym typeface="Calibri"/>
            </a:endParaRPr>
          </a:p>
        </p:txBody>
      </p:sp>
      <p:sp>
        <p:nvSpPr>
          <p:cNvPr id="211" name="Google Shape;211;p12"/>
          <p:cNvSpPr/>
          <p:nvPr/>
        </p:nvSpPr>
        <p:spPr>
          <a:xfrm>
            <a:off x="667525" y="3834417"/>
            <a:ext cx="3739800" cy="1006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3447"/>
              </a:buClr>
              <a:buSzPts val="1200"/>
              <a:buFont typeface="Calibri"/>
              <a:buNone/>
            </a:pPr>
            <a:r>
              <a:rPr lang="en-US" sz="1200">
                <a:solidFill>
                  <a:srgbClr val="243447"/>
                </a:solidFill>
                <a:latin typeface="Calibri"/>
                <a:ea typeface="Calibri"/>
                <a:cs typeface="Calibri"/>
                <a:sym typeface="Calibri"/>
              </a:rPr>
              <a:t>Market returns alone </a:t>
            </a:r>
            <a:r>
              <a:rPr lang="en-US" sz="1200">
                <a:solidFill>
                  <a:srgbClr val="243447"/>
                </a:solidFill>
                <a:latin typeface="Calibri"/>
                <a:ea typeface="Calibri"/>
                <a:cs typeface="Calibri"/>
                <a:sym typeface="Calibri"/>
              </a:rPr>
              <a:t>would</a:t>
            </a:r>
            <a:r>
              <a:rPr lang="en-US" sz="1200">
                <a:solidFill>
                  <a:srgbClr val="243447"/>
                </a:solidFill>
                <a:latin typeface="Calibri"/>
                <a:ea typeface="Calibri"/>
                <a:cs typeface="Calibri"/>
                <a:sym typeface="Calibri"/>
              </a:rPr>
              <a:t> only allow for time series analysis. In order to do regressions, firm-specific data was needed to be added to the pipeline. This caused us to redo M3 as M3v2</a:t>
            </a:r>
            <a:endParaRPr sz="1200">
              <a:solidFill>
                <a:schemeClr val="dk1"/>
              </a:solidFill>
              <a:latin typeface="Calibri"/>
              <a:ea typeface="Calibri"/>
              <a:cs typeface="Calibri"/>
              <a:sym typeface="Calibri"/>
            </a:endParaRPr>
          </a:p>
        </p:txBody>
      </p:sp>
      <p:pic>
        <p:nvPicPr>
          <p:cNvPr descr="Businesswoman overcomes challenges by pole vaulting to reach her goals. (Provided by Getty Images)" id="212" name="Google Shape;212;p12"/>
          <p:cNvPicPr preferRelativeResize="0"/>
          <p:nvPr/>
        </p:nvPicPr>
        <p:blipFill rotWithShape="1">
          <a:blip r:embed="rId3">
            <a:alphaModFix/>
          </a:blip>
          <a:srcRect b="0" l="17546" r="0" t="0"/>
          <a:stretch/>
        </p:blipFill>
        <p:spPr>
          <a:xfrm>
            <a:off x="5283125" y="1598975"/>
            <a:ext cx="3449400" cy="32418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747"/>
        </a:solidFill>
      </p:bgPr>
    </p:bg>
    <p:spTree>
      <p:nvGrpSpPr>
        <p:cNvPr id="217" name="Shape 217"/>
        <p:cNvGrpSpPr/>
        <p:nvPr/>
      </p:nvGrpSpPr>
      <p:grpSpPr>
        <a:xfrm>
          <a:off x="0" y="0"/>
          <a:ext cx="0" cy="0"/>
          <a:chOff x="0" y="0"/>
          <a:chExt cx="0" cy="0"/>
        </a:xfrm>
      </p:grpSpPr>
      <p:sp>
        <p:nvSpPr>
          <p:cNvPr id="218" name="Google Shape;218;p13"/>
          <p:cNvSpPr/>
          <p:nvPr/>
        </p:nvSpPr>
        <p:spPr>
          <a:xfrm>
            <a:off x="0" y="0"/>
            <a:ext cx="9144000" cy="5143500"/>
          </a:xfrm>
          <a:prstGeom prst="rect">
            <a:avLst/>
          </a:prstGeom>
          <a:solidFill>
            <a:srgbClr val="0F2747"/>
          </a:solidFill>
          <a:ln cap="flat" cmpd="sng" w="12700">
            <a:solidFill>
              <a:srgbClr val="0F274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13"/>
          <p:cNvSpPr/>
          <p:nvPr/>
        </p:nvSpPr>
        <p:spPr>
          <a:xfrm>
            <a:off x="7269480" y="411480"/>
            <a:ext cx="1417320" cy="1417320"/>
          </a:xfrm>
          <a:prstGeom prst="ellipse">
            <a:avLst/>
          </a:prstGeom>
          <a:solidFill>
            <a:srgbClr val="0C9DA5">
              <a:alpha val="32156"/>
            </a:srgbClr>
          </a:solidFill>
          <a:ln cap="flat" cmpd="sng" w="12700">
            <a:solidFill>
              <a:srgbClr val="0C9DA5">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13"/>
          <p:cNvSpPr/>
          <p:nvPr/>
        </p:nvSpPr>
        <p:spPr>
          <a:xfrm>
            <a:off x="6355080" y="1143000"/>
            <a:ext cx="914400" cy="914400"/>
          </a:xfrm>
          <a:prstGeom prst="ellipse">
            <a:avLst/>
          </a:prstGeom>
          <a:solidFill>
            <a:srgbClr val="BFE9E4">
              <a:alpha val="21960"/>
            </a:srgbClr>
          </a:solidFill>
          <a:ln cap="flat" cmpd="sng" w="12700">
            <a:solidFill>
              <a:srgbClr val="BFE9E4">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13"/>
          <p:cNvSpPr/>
          <p:nvPr/>
        </p:nvSpPr>
        <p:spPr>
          <a:xfrm>
            <a:off x="640080" y="685800"/>
            <a:ext cx="1828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E3F0"/>
              </a:buClr>
              <a:buSzPts val="1200"/>
              <a:buFont typeface="Calibri"/>
              <a:buNone/>
            </a:pPr>
            <a:r>
              <a:rPr b="1" lang="en-US" sz="1200">
                <a:solidFill>
                  <a:srgbClr val="D7E3F0"/>
                </a:solidFill>
                <a:latin typeface="Calibri"/>
                <a:ea typeface="Calibri"/>
                <a:cs typeface="Calibri"/>
                <a:sym typeface="Calibri"/>
              </a:rPr>
              <a:t>Bottom line</a:t>
            </a:r>
            <a:endParaRPr sz="1200">
              <a:solidFill>
                <a:schemeClr val="dk1"/>
              </a:solidFill>
              <a:latin typeface="Calibri"/>
              <a:ea typeface="Calibri"/>
              <a:cs typeface="Calibri"/>
              <a:sym typeface="Calibri"/>
            </a:endParaRPr>
          </a:p>
        </p:txBody>
      </p:sp>
      <p:sp>
        <p:nvSpPr>
          <p:cNvPr id="222" name="Google Shape;222;p13"/>
          <p:cNvSpPr/>
          <p:nvPr/>
        </p:nvSpPr>
        <p:spPr>
          <a:xfrm>
            <a:off x="640080" y="1143000"/>
            <a:ext cx="67665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Georgia"/>
              <a:buNone/>
            </a:pPr>
            <a:r>
              <a:rPr b="1" lang="en-US" sz="2500">
                <a:solidFill>
                  <a:srgbClr val="FFFFFF"/>
                </a:solidFill>
                <a:latin typeface="Georgia"/>
                <a:ea typeface="Georgia"/>
                <a:cs typeface="Georgia"/>
                <a:sym typeface="Georgia"/>
              </a:rPr>
              <a:t>Sentiment is a regime signal, not a magic timing machine.</a:t>
            </a:r>
            <a:endParaRPr sz="2500">
              <a:solidFill>
                <a:schemeClr val="dk1"/>
              </a:solidFill>
              <a:latin typeface="Calibri"/>
              <a:ea typeface="Calibri"/>
              <a:cs typeface="Calibri"/>
              <a:sym typeface="Calibri"/>
            </a:endParaRPr>
          </a:p>
        </p:txBody>
      </p:sp>
      <p:sp>
        <p:nvSpPr>
          <p:cNvPr id="223" name="Google Shape;223;p13"/>
          <p:cNvSpPr/>
          <p:nvPr/>
        </p:nvSpPr>
        <p:spPr>
          <a:xfrm>
            <a:off x="658368" y="2148840"/>
            <a:ext cx="6035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E3F0"/>
              </a:buClr>
              <a:buSzPts val="1300"/>
              <a:buFont typeface="Calibri"/>
              <a:buNone/>
            </a:pPr>
            <a:r>
              <a:rPr lang="en-US" sz="1300">
                <a:solidFill>
                  <a:srgbClr val="D7E3F0"/>
                </a:solidFill>
                <a:latin typeface="Calibri"/>
                <a:ea typeface="Calibri"/>
                <a:cs typeface="Calibri"/>
                <a:sym typeface="Calibri"/>
              </a:rPr>
              <a:t>That is the most honest and most useful conclusion for an investment committee.</a:t>
            </a:r>
            <a:endParaRPr sz="1300">
              <a:solidFill>
                <a:schemeClr val="dk1"/>
              </a:solidFill>
              <a:latin typeface="Calibri"/>
              <a:ea typeface="Calibri"/>
              <a:cs typeface="Calibri"/>
              <a:sym typeface="Calibri"/>
            </a:endParaRPr>
          </a:p>
        </p:txBody>
      </p:sp>
      <p:sp>
        <p:nvSpPr>
          <p:cNvPr id="224" name="Google Shape;224;p13"/>
          <p:cNvSpPr/>
          <p:nvPr/>
        </p:nvSpPr>
        <p:spPr>
          <a:xfrm>
            <a:off x="3575304" y="3255264"/>
            <a:ext cx="2231136" cy="6126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p:txBody>
      </p:sp>
      <p:sp>
        <p:nvSpPr>
          <p:cNvPr id="225" name="Google Shape;225;p13"/>
          <p:cNvSpPr/>
          <p:nvPr/>
        </p:nvSpPr>
        <p:spPr>
          <a:xfrm>
            <a:off x="658375" y="4188000"/>
            <a:ext cx="38880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FE9E4"/>
              </a:buClr>
              <a:buSzPts val="1800"/>
              <a:buFont typeface="Georgia"/>
              <a:buNone/>
            </a:pPr>
            <a:r>
              <a:rPr b="1" lang="en-US" sz="4800">
                <a:solidFill>
                  <a:srgbClr val="BFE9E4"/>
                </a:solidFill>
                <a:latin typeface="Georgia"/>
                <a:ea typeface="Georgia"/>
                <a:cs typeface="Georgia"/>
                <a:sym typeface="Georgia"/>
              </a:rPr>
              <a:t>Questions?</a:t>
            </a:r>
            <a:endParaRPr sz="4800">
              <a:solidFill>
                <a:schemeClr val="dk1"/>
              </a:solidFill>
              <a:latin typeface="Calibri"/>
              <a:ea typeface="Calibri"/>
              <a:cs typeface="Calibri"/>
              <a:sym typeface="Calibri"/>
            </a:endParaRPr>
          </a:p>
        </p:txBody>
      </p:sp>
      <p:sp>
        <p:nvSpPr>
          <p:cNvPr id="226" name="Google Shape;226;p13"/>
          <p:cNvSpPr/>
          <p:nvPr/>
        </p:nvSpPr>
        <p:spPr>
          <a:xfrm>
            <a:off x="7635240" y="6446520"/>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DE7F2"/>
              </a:buClr>
              <a:buSzPts val="900"/>
              <a:buFont typeface="Calibri"/>
              <a:buNone/>
            </a:pPr>
            <a:r>
              <a:rPr lang="en-US" sz="900">
                <a:solidFill>
                  <a:srgbClr val="DDE7F2"/>
                </a:solidFill>
                <a:latin typeface="Calibri"/>
                <a:ea typeface="Calibri"/>
                <a:cs typeface="Calibri"/>
                <a:sym typeface="Calibri"/>
              </a:rPr>
              <a:t>2nd Row Team | 11/11</a:t>
            </a:r>
            <a:endParaRPr sz="9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